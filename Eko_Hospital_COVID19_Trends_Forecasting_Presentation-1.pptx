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2F6FA"/>
        </a:solidFill>
        <a:effectLst/>
      </p:bgPr>
    </p:bg>
    <p:spTree>
      <p:nvGrpSpPr>
        <p:cNvPr id="1" name=""/>
        <p:cNvGrpSpPr/>
        <p:nvPr/>
      </p:nvGrpSpPr>
      <p:grpSpPr/>
      <p:sp>
        <p:nvSpPr>
          <p:cNvPr id="2" name="TextBox 1"/>
          <p:cNvSpPr txBox="1"/>
          <p:nvPr/>
        </p:nvSpPr>
        <p:spPr>
          <a:xfrm>
            <a:off x="731520" y="1234440"/>
            <a:ext cx="10789920" cy="1188720"/>
          </a:xfrm>
          <a:prstGeom prst="rect">
            <a:avLst/>
          </a:prstGeom>
          <a:noFill/>
        </p:spPr>
        <p:txBody>
          <a:bodyPr wrap="none">
            <a:spAutoFit/>
          </a:bodyPr>
          <a:lstStyle/>
          <a:p>
            <a:pPr algn="ctr">
              <a:defRPr sz="3800" b="1">
                <a:solidFill>
                  <a:srgbClr val="1F4E79"/>
                </a:solidFill>
              </a:defRPr>
            </a:pPr>
            <a:r>
              <a:t>COVID-19 Trends &amp; Forecasting Analysis</a:t>
            </a:r>
          </a:p>
        </p:txBody>
      </p:sp>
      <p:sp>
        <p:nvSpPr>
          <p:cNvPr id="3" name="TextBox 2"/>
          <p:cNvSpPr txBox="1"/>
          <p:nvPr/>
        </p:nvSpPr>
        <p:spPr>
          <a:xfrm>
            <a:off x="1188720" y="2560320"/>
            <a:ext cx="9875520" cy="914400"/>
          </a:xfrm>
          <a:prstGeom prst="rect">
            <a:avLst/>
          </a:prstGeom>
          <a:noFill/>
        </p:spPr>
        <p:txBody>
          <a:bodyPr wrap="none">
            <a:spAutoFit/>
          </a:bodyPr>
          <a:lstStyle/>
          <a:p>
            <a:pPr algn="ctr">
              <a:defRPr sz="2800" b="1">
                <a:solidFill>
                  <a:srgbClr val="4472C4"/>
                </a:solidFill>
              </a:defRPr>
            </a:pPr>
            <a:r>
              <a:t>Eko Hospital</a:t>
            </a:r>
          </a:p>
        </p:txBody>
      </p:sp>
      <p:sp>
        <p:nvSpPr>
          <p:cNvPr id="4" name="TextBox 3"/>
          <p:cNvSpPr txBox="1"/>
          <p:nvPr/>
        </p:nvSpPr>
        <p:spPr>
          <a:xfrm>
            <a:off x="1371600" y="3657600"/>
            <a:ext cx="9418320" cy="914400"/>
          </a:xfrm>
          <a:prstGeom prst="rect">
            <a:avLst/>
          </a:prstGeom>
          <a:noFill/>
        </p:spPr>
        <p:txBody>
          <a:bodyPr wrap="none">
            <a:spAutoFit/>
          </a:bodyPr>
          <a:lstStyle/>
          <a:p>
            <a:pPr algn="ctr">
              <a:defRPr sz="2000">
                <a:solidFill>
                  <a:srgbClr val="282828"/>
                </a:solidFill>
              </a:defRPr>
            </a:pPr>
            <a:r>
              <a:t>Data Analysis • Public-Health Surveillance • Time-Series Forecasting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320040"/>
            <a:ext cx="10972800" cy="640080"/>
          </a:xfrm>
          <a:prstGeom prst="rect">
            <a:avLst/>
          </a:prstGeom>
          <a:noFill/>
        </p:spPr>
        <p:txBody>
          <a:bodyPr wrap="none">
            <a:spAutoFit/>
          </a:bodyPr>
          <a:lstStyle/>
          <a:p>
            <a:pPr>
              <a:defRPr sz="2800" b="1">
                <a:solidFill>
                  <a:srgbClr val="1F4E79"/>
                </a:solidFill>
              </a:defRPr>
            </a:pPr>
            <a:r>
              <a:t>Project Story</a:t>
            </a:r>
          </a:p>
        </p:txBody>
      </p:sp>
      <p:sp>
        <p:nvSpPr>
          <p:cNvPr id="3" name="TextBox 2"/>
          <p:cNvSpPr txBox="1"/>
          <p:nvPr/>
        </p:nvSpPr>
        <p:spPr>
          <a:xfrm>
            <a:off x="621792" y="960120"/>
            <a:ext cx="10789920" cy="411480"/>
          </a:xfrm>
          <a:prstGeom prst="rect">
            <a:avLst/>
          </a:prstGeom>
          <a:noFill/>
        </p:spPr>
        <p:txBody>
          <a:bodyPr wrap="none">
            <a:spAutoFit/>
          </a:bodyPr>
          <a:lstStyle/>
          <a:p>
            <a:pPr>
              <a:defRPr sz="1400">
                <a:solidFill>
                  <a:srgbClr val="282828"/>
                </a:solidFill>
              </a:defRPr>
            </a:pPr>
            <a:r>
              <a:t>The complete flow from the analytical work to its practical value</a:t>
            </a:r>
          </a:p>
        </p:txBody>
      </p:sp>
      <p:sp>
        <p:nvSpPr>
          <p:cNvPr id="4" name="Rounded Rectangle 3"/>
          <p:cNvSpPr/>
          <p:nvPr/>
        </p:nvSpPr>
        <p:spPr>
          <a:xfrm>
            <a:off x="640080" y="1417320"/>
            <a:ext cx="5257800" cy="4526280"/>
          </a:xfrm>
          <a:prstGeom prst="roundRect">
            <a:avLst/>
          </a:prstGeom>
          <a:solidFill>
            <a:srgbClr val="F2F6FA"/>
          </a:solidFill>
          <a:ln>
            <a:solidFill>
              <a:srgbClr val="4472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1645920"/>
            <a:ext cx="4800600" cy="457200"/>
          </a:xfrm>
          <a:prstGeom prst="rect">
            <a:avLst/>
          </a:prstGeom>
          <a:noFill/>
        </p:spPr>
        <p:txBody>
          <a:bodyPr wrap="none">
            <a:spAutoFit/>
          </a:bodyPr>
          <a:lstStyle/>
          <a:p>
            <a:pPr>
              <a:defRPr sz="2000" b="1">
                <a:solidFill>
                  <a:srgbClr val="1F4E79"/>
                </a:solidFill>
              </a:defRPr>
            </a:pPr>
            <a:r>
              <a:t>What I did</a:t>
            </a:r>
          </a:p>
        </p:txBody>
      </p:sp>
      <p:sp>
        <p:nvSpPr>
          <p:cNvPr id="6" name="TextBox 5"/>
          <p:cNvSpPr txBox="1"/>
          <p:nvPr/>
        </p:nvSpPr>
        <p:spPr>
          <a:xfrm>
            <a:off x="960119" y="2148840"/>
            <a:ext cx="4572000" cy="3474720"/>
          </a:xfrm>
          <a:prstGeom prst="rect">
            <a:avLst/>
          </a:prstGeom>
          <a:noFill/>
        </p:spPr>
        <p:txBody>
          <a:bodyPr wrap="square">
            <a:spAutoFit/>
          </a:bodyPr>
          <a:lstStyle/>
          <a:p>
            <a:pPr>
              <a:spcAft>
                <a:spcPts val="1000"/>
              </a:spcAft>
              <a:defRPr sz="1700" b="0">
                <a:solidFill>
                  <a:srgbClr val="282828"/>
                </a:solidFill>
              </a:defRPr>
            </a:pPr>
            <a:r>
              <a:t>Analyzed 1,000 days of COVID-19 observations</a:t>
            </a:r>
          </a:p>
          <a:p>
            <a:pPr>
              <a:spcAft>
                <a:spcPts val="1000"/>
              </a:spcAft>
              <a:defRPr sz="1700" b="0">
                <a:solidFill>
                  <a:srgbClr val="282828"/>
                </a:solidFill>
              </a:defRPr>
            </a:pPr>
            <a:r>
              <a:t>Examined cases, deaths, recoveries and testing</a:t>
            </a:r>
          </a:p>
          <a:p>
            <a:pPr>
              <a:spcAft>
                <a:spcPts val="1000"/>
              </a:spcAft>
              <a:defRPr sz="1700" b="0">
                <a:solidFill>
                  <a:srgbClr val="282828"/>
                </a:solidFill>
              </a:defRPr>
            </a:pPr>
            <a:r>
              <a:t>Calculated mortality and recovery rates</a:t>
            </a:r>
          </a:p>
          <a:p>
            <a:pPr>
              <a:spcAft>
                <a:spcPts val="1000"/>
              </a:spcAft>
              <a:defRPr sz="1700" b="0">
                <a:solidFill>
                  <a:srgbClr val="282828"/>
                </a:solidFill>
              </a:defRPr>
            </a:pPr>
            <a:r>
              <a:t>Used correlation analysis and ARIMA forecasting</a:t>
            </a:r>
          </a:p>
        </p:txBody>
      </p:sp>
      <p:sp>
        <p:nvSpPr>
          <p:cNvPr id="7" name="Rounded Rectangle 6"/>
          <p:cNvSpPr/>
          <p:nvPr/>
        </p:nvSpPr>
        <p:spPr>
          <a:xfrm>
            <a:off x="6263640" y="1417320"/>
            <a:ext cx="5257800" cy="4526280"/>
          </a:xfrm>
          <a:prstGeom prst="roundRect">
            <a:avLst/>
          </a:prstGeom>
          <a:solidFill>
            <a:srgbClr val="F2F6FA"/>
          </a:solidFill>
          <a:ln>
            <a:solidFill>
              <a:srgbClr val="4472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92240" y="1645920"/>
            <a:ext cx="4800600" cy="457200"/>
          </a:xfrm>
          <a:prstGeom prst="rect">
            <a:avLst/>
          </a:prstGeom>
          <a:noFill/>
        </p:spPr>
        <p:txBody>
          <a:bodyPr wrap="none">
            <a:spAutoFit/>
          </a:bodyPr>
          <a:lstStyle/>
          <a:p>
            <a:pPr>
              <a:defRPr sz="2000" b="1">
                <a:solidFill>
                  <a:srgbClr val="1F4E79"/>
                </a:solidFill>
              </a:defRPr>
            </a:pPr>
            <a:r>
              <a:t>Who it was for</a:t>
            </a:r>
          </a:p>
        </p:txBody>
      </p:sp>
      <p:sp>
        <p:nvSpPr>
          <p:cNvPr id="9" name="TextBox 8"/>
          <p:cNvSpPr txBox="1"/>
          <p:nvPr/>
        </p:nvSpPr>
        <p:spPr>
          <a:xfrm>
            <a:off x="6583679" y="2148840"/>
            <a:ext cx="4572000" cy="3474720"/>
          </a:xfrm>
          <a:prstGeom prst="rect">
            <a:avLst/>
          </a:prstGeom>
          <a:noFill/>
        </p:spPr>
        <p:txBody>
          <a:bodyPr wrap="square">
            <a:spAutoFit/>
          </a:bodyPr>
          <a:lstStyle/>
          <a:p>
            <a:pPr>
              <a:spcAft>
                <a:spcPts val="1000"/>
              </a:spcAft>
              <a:defRPr sz="1700" b="0">
                <a:solidFill>
                  <a:srgbClr val="282828"/>
                </a:solidFill>
              </a:defRPr>
            </a:pPr>
            <a:r>
              <a:t>Eko Hospital</a:t>
            </a:r>
          </a:p>
          <a:p>
            <a:pPr>
              <a:spcAft>
                <a:spcPts val="1000"/>
              </a:spcAft>
              <a:defRPr sz="1700" b="0">
                <a:solidFill>
                  <a:srgbClr val="282828"/>
                </a:solidFill>
              </a:defRPr>
            </a:pPr>
            <a:r>
              <a:t>Hospital/public-health monitoring context</a:t>
            </a:r>
          </a:p>
          <a:p>
            <a:pPr>
              <a:spcAft>
                <a:spcPts val="1000"/>
              </a:spcAft>
              <a:defRPr sz="1700" b="0">
                <a:solidFill>
                  <a:srgbClr val="282828"/>
                </a:solidFill>
              </a:defRPr>
            </a:pPr>
            <a:r>
              <a:t>Focus on surveillance and preparedness</a:t>
            </a:r>
          </a:p>
          <a:p>
            <a:pPr>
              <a:spcAft>
                <a:spcPts val="1000"/>
              </a:spcAft>
              <a:defRPr sz="1700" b="0">
                <a:solidFill>
                  <a:srgbClr val="282828"/>
                </a:solidFill>
              </a:defRPr>
            </a:pPr>
            <a:r>
              <a:t>Insights intended to support planning decisions</a:t>
            </a:r>
          </a:p>
        </p:txBody>
      </p:sp>
      <p:sp>
        <p:nvSpPr>
          <p:cNvPr id="10" name="Rectangle 9"/>
          <p:cNvSpPr/>
          <p:nvPr/>
        </p:nvSpPr>
        <p:spPr>
          <a:xfrm>
            <a:off x="0" y="6629400"/>
            <a:ext cx="12191695" cy="2286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698480" y="6446520"/>
            <a:ext cx="914400" cy="182880"/>
          </a:xfrm>
          <a:prstGeom prst="rect">
            <a:avLst/>
          </a:prstGeom>
          <a:noFill/>
        </p:spPr>
        <p:txBody>
          <a:bodyPr wrap="none">
            <a:spAutoFit/>
          </a:bodyPr>
          <a:lstStyle/>
          <a:p>
            <a:pPr algn="r">
              <a:defRPr sz="900">
                <a:solidFill>
                  <a:srgbClr val="1F4E79"/>
                </a:solidFill>
              </a:defRPr>
            </a:pPr>
            <a: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320040"/>
            <a:ext cx="10972800" cy="640080"/>
          </a:xfrm>
          <a:prstGeom prst="rect">
            <a:avLst/>
          </a:prstGeom>
          <a:noFill/>
        </p:spPr>
        <p:txBody>
          <a:bodyPr wrap="none">
            <a:spAutoFit/>
          </a:bodyPr>
          <a:lstStyle/>
          <a:p>
            <a:pPr>
              <a:defRPr sz="2800" b="1">
                <a:solidFill>
                  <a:srgbClr val="1F4E79"/>
                </a:solidFill>
              </a:defRPr>
            </a:pPr>
            <a:r>
              <a:t>Business / Analytical Objective</a:t>
            </a:r>
          </a:p>
        </p:txBody>
      </p:sp>
      <p:sp>
        <p:nvSpPr>
          <p:cNvPr id="3" name="TextBox 2"/>
          <p:cNvSpPr txBox="1"/>
          <p:nvPr/>
        </p:nvSpPr>
        <p:spPr>
          <a:xfrm>
            <a:off x="822960" y="1417320"/>
            <a:ext cx="10515600" cy="4846320"/>
          </a:xfrm>
          <a:prstGeom prst="rect">
            <a:avLst/>
          </a:prstGeom>
          <a:noFill/>
        </p:spPr>
        <p:txBody>
          <a:bodyPr wrap="square">
            <a:spAutoFit/>
          </a:bodyPr>
          <a:lstStyle/>
          <a:p>
            <a:pPr>
              <a:spcAft>
                <a:spcPts val="1000"/>
              </a:spcAft>
              <a:defRPr sz="2100" b="0">
                <a:solidFill>
                  <a:srgbClr val="282828"/>
                </a:solidFill>
              </a:defRPr>
            </a:pPr>
            <a:r>
              <a:t>Understand how COVID-19 activity changes over time.</a:t>
            </a:r>
          </a:p>
          <a:p>
            <a:pPr>
              <a:spcAft>
                <a:spcPts val="1000"/>
              </a:spcAft>
              <a:defRPr sz="2100" b="0">
                <a:solidFill>
                  <a:srgbClr val="282828"/>
                </a:solidFill>
              </a:defRPr>
            </a:pPr>
            <a:r>
              <a:t>Monitor cases, deaths, recoveries and testing patterns.</a:t>
            </a:r>
          </a:p>
          <a:p>
            <a:pPr>
              <a:spcAft>
                <a:spcPts val="1000"/>
              </a:spcAft>
              <a:defRPr sz="2100" b="0">
                <a:solidFill>
                  <a:srgbClr val="282828"/>
                </a:solidFill>
              </a:defRPr>
            </a:pPr>
            <a:r>
              <a:t>Calculate mortality and recovery rates for additional context.</a:t>
            </a:r>
          </a:p>
          <a:p>
            <a:pPr>
              <a:spcAft>
                <a:spcPts val="1000"/>
              </a:spcAft>
              <a:defRPr sz="2100" b="0">
                <a:solidFill>
                  <a:srgbClr val="282828"/>
                </a:solidFill>
              </a:defRPr>
            </a:pPr>
            <a:r>
              <a:t>Examine the relationship between testing volume and case detection.</a:t>
            </a:r>
          </a:p>
          <a:p>
            <a:pPr>
              <a:spcAft>
                <a:spcPts val="1000"/>
              </a:spcAft>
              <a:defRPr sz="2100" b="0">
                <a:solidFill>
                  <a:srgbClr val="282828"/>
                </a:solidFill>
              </a:defRPr>
            </a:pPr>
            <a:r>
              <a:t>Forecast cumulative cases using an ARIMA time-series model.</a:t>
            </a:r>
          </a:p>
          <a:p>
            <a:pPr>
              <a:spcAft>
                <a:spcPts val="1000"/>
              </a:spcAft>
              <a:defRPr sz="2100" b="0">
                <a:solidFill>
                  <a:srgbClr val="282828"/>
                </a:solidFill>
              </a:defRPr>
            </a:pPr>
            <a:r>
              <a:t>Translate analytical outputs into clear monitoring and planning insights.</a:t>
            </a:r>
          </a:p>
        </p:txBody>
      </p:sp>
      <p:sp>
        <p:nvSpPr>
          <p:cNvPr id="4" name="Rectangle 3"/>
          <p:cNvSpPr/>
          <p:nvPr/>
        </p:nvSpPr>
        <p:spPr>
          <a:xfrm>
            <a:off x="0" y="6629400"/>
            <a:ext cx="12191695" cy="2286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698480" y="6446520"/>
            <a:ext cx="914400" cy="182880"/>
          </a:xfrm>
          <a:prstGeom prst="rect">
            <a:avLst/>
          </a:prstGeom>
          <a:noFill/>
        </p:spPr>
        <p:txBody>
          <a:bodyPr wrap="none">
            <a:spAutoFit/>
          </a:bodyPr>
          <a:lstStyle/>
          <a:p>
            <a:pPr algn="r">
              <a:defRPr sz="900">
                <a:solidFill>
                  <a:srgbClr val="1F4E79"/>
                </a:solidFill>
              </a:defRPr>
            </a:pPr>
            <a: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320040"/>
            <a:ext cx="10972800" cy="640080"/>
          </a:xfrm>
          <a:prstGeom prst="rect">
            <a:avLst/>
          </a:prstGeom>
          <a:noFill/>
        </p:spPr>
        <p:txBody>
          <a:bodyPr wrap="none">
            <a:spAutoFit/>
          </a:bodyPr>
          <a:lstStyle/>
          <a:p>
            <a:pPr>
              <a:defRPr sz="2800" b="1">
                <a:solidFill>
                  <a:srgbClr val="1F4E79"/>
                </a:solidFill>
              </a:defRPr>
            </a:pPr>
            <a:r>
              <a:t>Data Used</a:t>
            </a:r>
          </a:p>
        </p:txBody>
      </p:sp>
      <p:sp>
        <p:nvSpPr>
          <p:cNvPr id="3" name="Rounded Rectangle 2"/>
          <p:cNvSpPr/>
          <p:nvPr/>
        </p:nvSpPr>
        <p:spPr>
          <a:xfrm>
            <a:off x="640080" y="1417320"/>
            <a:ext cx="5257800" cy="4526280"/>
          </a:xfrm>
          <a:prstGeom prst="roundRect">
            <a:avLst/>
          </a:prstGeom>
          <a:solidFill>
            <a:srgbClr val="F2F6FA"/>
          </a:solidFill>
          <a:ln>
            <a:solidFill>
              <a:srgbClr val="4472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1645920"/>
            <a:ext cx="4800600" cy="457200"/>
          </a:xfrm>
          <a:prstGeom prst="rect">
            <a:avLst/>
          </a:prstGeom>
          <a:noFill/>
        </p:spPr>
        <p:txBody>
          <a:bodyPr wrap="none">
            <a:spAutoFit/>
          </a:bodyPr>
          <a:lstStyle/>
          <a:p>
            <a:pPr>
              <a:defRPr sz="2000" b="1">
                <a:solidFill>
                  <a:srgbClr val="1F4E79"/>
                </a:solidFill>
              </a:defRPr>
            </a:pPr>
            <a:r>
              <a:t>Dataset</a:t>
            </a:r>
          </a:p>
        </p:txBody>
      </p:sp>
      <p:sp>
        <p:nvSpPr>
          <p:cNvPr id="5" name="TextBox 4"/>
          <p:cNvSpPr txBox="1"/>
          <p:nvPr/>
        </p:nvSpPr>
        <p:spPr>
          <a:xfrm>
            <a:off x="960119" y="2148840"/>
            <a:ext cx="4572000" cy="3474720"/>
          </a:xfrm>
          <a:prstGeom prst="rect">
            <a:avLst/>
          </a:prstGeom>
          <a:noFill/>
        </p:spPr>
        <p:txBody>
          <a:bodyPr wrap="square">
            <a:spAutoFit/>
          </a:bodyPr>
          <a:lstStyle/>
          <a:p>
            <a:pPr>
              <a:spcAft>
                <a:spcPts val="1000"/>
              </a:spcAft>
              <a:defRPr sz="1700" b="0">
                <a:solidFill>
                  <a:srgbClr val="282828"/>
                </a:solidFill>
              </a:defRPr>
            </a:pPr>
            <a:r>
              <a:t>1,000 days of COVID-19 observations</a:t>
            </a:r>
          </a:p>
          <a:p>
            <a:pPr>
              <a:spcAft>
                <a:spcPts val="1000"/>
              </a:spcAft>
              <a:defRPr sz="1700" b="0">
                <a:solidFill>
                  <a:srgbClr val="282828"/>
                </a:solidFill>
              </a:defRPr>
            </a:pPr>
            <a:r>
              <a:t>Daily time-series structure</a:t>
            </a:r>
          </a:p>
          <a:p>
            <a:pPr>
              <a:spcAft>
                <a:spcPts val="1000"/>
              </a:spcAft>
              <a:defRPr sz="1700" b="0">
                <a:solidFill>
                  <a:srgbClr val="282828"/>
                </a:solidFill>
              </a:defRPr>
            </a:pPr>
            <a:r>
              <a:t>Cases and cumulative cases</a:t>
            </a:r>
          </a:p>
          <a:p>
            <a:pPr>
              <a:spcAft>
                <a:spcPts val="1000"/>
              </a:spcAft>
              <a:defRPr sz="1700" b="0">
                <a:solidFill>
                  <a:srgbClr val="282828"/>
                </a:solidFill>
              </a:defRPr>
            </a:pPr>
            <a:r>
              <a:t>Deaths and cumulative deaths</a:t>
            </a:r>
          </a:p>
        </p:txBody>
      </p:sp>
      <p:sp>
        <p:nvSpPr>
          <p:cNvPr id="6" name="Rounded Rectangle 5"/>
          <p:cNvSpPr/>
          <p:nvPr/>
        </p:nvSpPr>
        <p:spPr>
          <a:xfrm>
            <a:off x="6263640" y="1417320"/>
            <a:ext cx="5257800" cy="4526280"/>
          </a:xfrm>
          <a:prstGeom prst="roundRect">
            <a:avLst/>
          </a:prstGeom>
          <a:solidFill>
            <a:srgbClr val="F2F6FA"/>
          </a:solidFill>
          <a:ln>
            <a:solidFill>
              <a:srgbClr val="4472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92240" y="1645920"/>
            <a:ext cx="4800600" cy="457200"/>
          </a:xfrm>
          <a:prstGeom prst="rect">
            <a:avLst/>
          </a:prstGeom>
          <a:noFill/>
        </p:spPr>
        <p:txBody>
          <a:bodyPr wrap="none">
            <a:spAutoFit/>
          </a:bodyPr>
          <a:lstStyle/>
          <a:p>
            <a:pPr>
              <a:defRPr sz="2000" b="1">
                <a:solidFill>
                  <a:srgbClr val="1F4E79"/>
                </a:solidFill>
              </a:defRPr>
            </a:pPr>
            <a:r>
              <a:t>Additional Measures</a:t>
            </a:r>
          </a:p>
        </p:txBody>
      </p:sp>
      <p:sp>
        <p:nvSpPr>
          <p:cNvPr id="8" name="TextBox 7"/>
          <p:cNvSpPr txBox="1"/>
          <p:nvPr/>
        </p:nvSpPr>
        <p:spPr>
          <a:xfrm>
            <a:off x="6583679" y="2148840"/>
            <a:ext cx="4572000" cy="3474720"/>
          </a:xfrm>
          <a:prstGeom prst="rect">
            <a:avLst/>
          </a:prstGeom>
          <a:noFill/>
        </p:spPr>
        <p:txBody>
          <a:bodyPr wrap="square">
            <a:spAutoFit/>
          </a:bodyPr>
          <a:lstStyle/>
          <a:p>
            <a:pPr>
              <a:spcAft>
                <a:spcPts val="1000"/>
              </a:spcAft>
              <a:defRPr sz="1700" b="0">
                <a:solidFill>
                  <a:srgbClr val="282828"/>
                </a:solidFill>
              </a:defRPr>
            </a:pPr>
            <a:r>
              <a:t>Recoveries and cumulative recoveries</a:t>
            </a:r>
          </a:p>
          <a:p>
            <a:pPr>
              <a:spcAft>
                <a:spcPts val="1000"/>
              </a:spcAft>
              <a:defRPr sz="1700" b="0">
                <a:solidFill>
                  <a:srgbClr val="282828"/>
                </a:solidFill>
              </a:defRPr>
            </a:pPr>
            <a:r>
              <a:t>Testing activity</a:t>
            </a:r>
          </a:p>
          <a:p>
            <a:pPr>
              <a:spcAft>
                <a:spcPts val="1000"/>
              </a:spcAft>
              <a:defRPr sz="1700" b="0">
                <a:solidFill>
                  <a:srgbClr val="282828"/>
                </a:solidFill>
              </a:defRPr>
            </a:pPr>
            <a:r>
              <a:t>New and cumulative measures</a:t>
            </a:r>
          </a:p>
          <a:p>
            <a:pPr>
              <a:spcAft>
                <a:spcPts val="1000"/>
              </a:spcAft>
              <a:defRPr sz="1700" b="0">
                <a:solidFill>
                  <a:srgbClr val="282828"/>
                </a:solidFill>
              </a:defRPr>
            </a:pPr>
            <a:r>
              <a:t>Data organized for trend and forecasting analysis</a:t>
            </a:r>
          </a:p>
        </p:txBody>
      </p:sp>
      <p:sp>
        <p:nvSpPr>
          <p:cNvPr id="9" name="Rectangle 8"/>
          <p:cNvSpPr/>
          <p:nvPr/>
        </p:nvSpPr>
        <p:spPr>
          <a:xfrm>
            <a:off x="0" y="6629400"/>
            <a:ext cx="12191695" cy="2286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698480" y="6446520"/>
            <a:ext cx="914400" cy="182880"/>
          </a:xfrm>
          <a:prstGeom prst="rect">
            <a:avLst/>
          </a:prstGeom>
          <a:noFill/>
        </p:spPr>
        <p:txBody>
          <a:bodyPr wrap="none">
            <a:spAutoFit/>
          </a:bodyPr>
          <a:lstStyle/>
          <a:p>
            <a:pPr algn="r">
              <a:defRPr sz="900">
                <a:solidFill>
                  <a:srgbClr val="1F4E79"/>
                </a:solidFill>
              </a:defRPr>
            </a:pPr>
            <a: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320040"/>
            <a:ext cx="10972800" cy="640080"/>
          </a:xfrm>
          <a:prstGeom prst="rect">
            <a:avLst/>
          </a:prstGeom>
          <a:noFill/>
        </p:spPr>
        <p:txBody>
          <a:bodyPr wrap="none">
            <a:spAutoFit/>
          </a:bodyPr>
          <a:lstStyle/>
          <a:p>
            <a:pPr>
              <a:defRPr sz="2800" b="1">
                <a:solidFill>
                  <a:srgbClr val="1F4E79"/>
                </a:solidFill>
              </a:defRPr>
            </a:pPr>
            <a:r>
              <a:t>Analytical Workflow</a:t>
            </a:r>
          </a:p>
        </p:txBody>
      </p:sp>
      <p:sp>
        <p:nvSpPr>
          <p:cNvPr id="3" name="Rounded Rectangle 2"/>
          <p:cNvSpPr/>
          <p:nvPr/>
        </p:nvSpPr>
        <p:spPr>
          <a:xfrm>
            <a:off x="502920" y="1417320"/>
            <a:ext cx="3429000" cy="1737360"/>
          </a:xfrm>
          <a:prstGeom prst="roundRect">
            <a:avLst/>
          </a:prstGeom>
          <a:solidFill>
            <a:srgbClr val="F2F6FA"/>
          </a:solidFill>
          <a:ln>
            <a:solidFill>
              <a:srgbClr val="4472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67512" y="1581912"/>
            <a:ext cx="3063240" cy="411480"/>
          </a:xfrm>
          <a:prstGeom prst="rect">
            <a:avLst/>
          </a:prstGeom>
          <a:noFill/>
        </p:spPr>
        <p:txBody>
          <a:bodyPr wrap="none">
            <a:spAutoFit/>
          </a:bodyPr>
          <a:lstStyle/>
          <a:p>
            <a:pPr>
              <a:defRPr sz="1800" b="1">
                <a:solidFill>
                  <a:srgbClr val="1F4E79"/>
                </a:solidFill>
              </a:defRPr>
            </a:pPr>
            <a:r>
              <a:t>1. Prepare &amp; explore</a:t>
            </a:r>
          </a:p>
        </p:txBody>
      </p:sp>
      <p:sp>
        <p:nvSpPr>
          <p:cNvPr id="5" name="TextBox 4"/>
          <p:cNvSpPr txBox="1"/>
          <p:nvPr/>
        </p:nvSpPr>
        <p:spPr>
          <a:xfrm>
            <a:off x="667512" y="2075688"/>
            <a:ext cx="3063240" cy="777240"/>
          </a:xfrm>
          <a:prstGeom prst="rect">
            <a:avLst/>
          </a:prstGeom>
          <a:noFill/>
        </p:spPr>
        <p:txBody>
          <a:bodyPr wrap="none">
            <a:spAutoFit/>
          </a:bodyPr>
          <a:lstStyle/>
          <a:p>
            <a:pPr>
              <a:defRPr sz="1400">
                <a:solidFill>
                  <a:srgbClr val="282828"/>
                </a:solidFill>
              </a:defRPr>
            </a:pPr>
            <a:r>
              <a:t>Inspect and organize the data</a:t>
            </a:r>
          </a:p>
        </p:txBody>
      </p:sp>
      <p:sp>
        <p:nvSpPr>
          <p:cNvPr id="6" name="Rounded Rectangle 5"/>
          <p:cNvSpPr/>
          <p:nvPr/>
        </p:nvSpPr>
        <p:spPr>
          <a:xfrm>
            <a:off x="4389120" y="1417320"/>
            <a:ext cx="3429000" cy="1737360"/>
          </a:xfrm>
          <a:prstGeom prst="roundRect">
            <a:avLst/>
          </a:prstGeom>
          <a:solidFill>
            <a:srgbClr val="F2F6FA"/>
          </a:solidFill>
          <a:ln>
            <a:solidFill>
              <a:srgbClr val="4472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53712" y="1581912"/>
            <a:ext cx="3063240" cy="411480"/>
          </a:xfrm>
          <a:prstGeom prst="rect">
            <a:avLst/>
          </a:prstGeom>
          <a:noFill/>
        </p:spPr>
        <p:txBody>
          <a:bodyPr wrap="none">
            <a:spAutoFit/>
          </a:bodyPr>
          <a:lstStyle/>
          <a:p>
            <a:pPr>
              <a:defRPr sz="1800" b="1">
                <a:solidFill>
                  <a:srgbClr val="1F4E79"/>
                </a:solidFill>
              </a:defRPr>
            </a:pPr>
            <a:r>
              <a:t>2. Trend analysis</a:t>
            </a:r>
          </a:p>
        </p:txBody>
      </p:sp>
      <p:sp>
        <p:nvSpPr>
          <p:cNvPr id="8" name="TextBox 7"/>
          <p:cNvSpPr txBox="1"/>
          <p:nvPr/>
        </p:nvSpPr>
        <p:spPr>
          <a:xfrm>
            <a:off x="4553712" y="2075688"/>
            <a:ext cx="3063240" cy="777240"/>
          </a:xfrm>
          <a:prstGeom prst="rect">
            <a:avLst/>
          </a:prstGeom>
          <a:noFill/>
        </p:spPr>
        <p:txBody>
          <a:bodyPr wrap="none">
            <a:spAutoFit/>
          </a:bodyPr>
          <a:lstStyle/>
          <a:p>
            <a:pPr>
              <a:defRPr sz="1400">
                <a:solidFill>
                  <a:srgbClr val="282828"/>
                </a:solidFill>
              </a:defRPr>
            </a:pPr>
            <a:r>
              <a:t>Track cases, deaths, recoveries &amp; testing</a:t>
            </a:r>
          </a:p>
        </p:txBody>
      </p:sp>
      <p:sp>
        <p:nvSpPr>
          <p:cNvPr id="9" name="Rounded Rectangle 8"/>
          <p:cNvSpPr/>
          <p:nvPr/>
        </p:nvSpPr>
        <p:spPr>
          <a:xfrm>
            <a:off x="8275320" y="1417320"/>
            <a:ext cx="3429000" cy="1737360"/>
          </a:xfrm>
          <a:prstGeom prst="roundRect">
            <a:avLst/>
          </a:prstGeom>
          <a:solidFill>
            <a:srgbClr val="F2F6FA"/>
          </a:solidFill>
          <a:ln>
            <a:solidFill>
              <a:srgbClr val="4472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439912" y="1581912"/>
            <a:ext cx="3063240" cy="411480"/>
          </a:xfrm>
          <a:prstGeom prst="rect">
            <a:avLst/>
          </a:prstGeom>
          <a:noFill/>
        </p:spPr>
        <p:txBody>
          <a:bodyPr wrap="none">
            <a:spAutoFit/>
          </a:bodyPr>
          <a:lstStyle/>
          <a:p>
            <a:pPr>
              <a:defRPr sz="1800" b="1">
                <a:solidFill>
                  <a:srgbClr val="1F4E79"/>
                </a:solidFill>
              </a:defRPr>
            </a:pPr>
            <a:r>
              <a:t>3. Rate analysis</a:t>
            </a:r>
          </a:p>
        </p:txBody>
      </p:sp>
      <p:sp>
        <p:nvSpPr>
          <p:cNvPr id="11" name="TextBox 10"/>
          <p:cNvSpPr txBox="1"/>
          <p:nvPr/>
        </p:nvSpPr>
        <p:spPr>
          <a:xfrm>
            <a:off x="8439912" y="2075688"/>
            <a:ext cx="3063240" cy="777240"/>
          </a:xfrm>
          <a:prstGeom prst="rect">
            <a:avLst/>
          </a:prstGeom>
          <a:noFill/>
        </p:spPr>
        <p:txBody>
          <a:bodyPr wrap="none">
            <a:spAutoFit/>
          </a:bodyPr>
          <a:lstStyle/>
          <a:p>
            <a:pPr>
              <a:defRPr sz="1400">
                <a:solidFill>
                  <a:srgbClr val="282828"/>
                </a:solidFill>
              </a:defRPr>
            </a:pPr>
            <a:r>
              <a:t>Calculate mortality &amp; recovery rates</a:t>
            </a:r>
          </a:p>
        </p:txBody>
      </p:sp>
      <p:sp>
        <p:nvSpPr>
          <p:cNvPr id="12" name="Rounded Rectangle 11"/>
          <p:cNvSpPr/>
          <p:nvPr/>
        </p:nvSpPr>
        <p:spPr>
          <a:xfrm>
            <a:off x="502920" y="3657600"/>
            <a:ext cx="3429000" cy="1737360"/>
          </a:xfrm>
          <a:prstGeom prst="roundRect">
            <a:avLst/>
          </a:prstGeom>
          <a:solidFill>
            <a:srgbClr val="F2F6FA"/>
          </a:solidFill>
          <a:ln>
            <a:solidFill>
              <a:srgbClr val="4472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67512" y="3822191"/>
            <a:ext cx="3063240" cy="411480"/>
          </a:xfrm>
          <a:prstGeom prst="rect">
            <a:avLst/>
          </a:prstGeom>
          <a:noFill/>
        </p:spPr>
        <p:txBody>
          <a:bodyPr wrap="none">
            <a:spAutoFit/>
          </a:bodyPr>
          <a:lstStyle/>
          <a:p>
            <a:pPr>
              <a:defRPr sz="1800" b="1">
                <a:solidFill>
                  <a:srgbClr val="1F4E79"/>
                </a:solidFill>
              </a:defRPr>
            </a:pPr>
            <a:r>
              <a:t>4. Correlation</a:t>
            </a:r>
          </a:p>
        </p:txBody>
      </p:sp>
      <p:sp>
        <p:nvSpPr>
          <p:cNvPr id="14" name="TextBox 13"/>
          <p:cNvSpPr txBox="1"/>
          <p:nvPr/>
        </p:nvSpPr>
        <p:spPr>
          <a:xfrm>
            <a:off x="667512" y="4315968"/>
            <a:ext cx="3063240" cy="777240"/>
          </a:xfrm>
          <a:prstGeom prst="rect">
            <a:avLst/>
          </a:prstGeom>
          <a:noFill/>
        </p:spPr>
        <p:txBody>
          <a:bodyPr wrap="none">
            <a:spAutoFit/>
          </a:bodyPr>
          <a:lstStyle/>
          <a:p>
            <a:pPr>
              <a:defRPr sz="1400">
                <a:solidFill>
                  <a:srgbClr val="282828"/>
                </a:solidFill>
              </a:defRPr>
            </a:pPr>
            <a:r>
              <a:t>Examine testing vs. case detection</a:t>
            </a:r>
          </a:p>
        </p:txBody>
      </p:sp>
      <p:sp>
        <p:nvSpPr>
          <p:cNvPr id="15" name="Rounded Rectangle 14"/>
          <p:cNvSpPr/>
          <p:nvPr/>
        </p:nvSpPr>
        <p:spPr>
          <a:xfrm>
            <a:off x="4389120" y="3657600"/>
            <a:ext cx="3429000" cy="1737360"/>
          </a:xfrm>
          <a:prstGeom prst="roundRect">
            <a:avLst/>
          </a:prstGeom>
          <a:solidFill>
            <a:srgbClr val="F2F6FA"/>
          </a:solidFill>
          <a:ln>
            <a:solidFill>
              <a:srgbClr val="4472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53712" y="3822191"/>
            <a:ext cx="3063240" cy="411480"/>
          </a:xfrm>
          <a:prstGeom prst="rect">
            <a:avLst/>
          </a:prstGeom>
          <a:noFill/>
        </p:spPr>
        <p:txBody>
          <a:bodyPr wrap="none">
            <a:spAutoFit/>
          </a:bodyPr>
          <a:lstStyle/>
          <a:p>
            <a:pPr>
              <a:defRPr sz="1800" b="1">
                <a:solidFill>
                  <a:srgbClr val="1F4E79"/>
                </a:solidFill>
              </a:defRPr>
            </a:pPr>
            <a:r>
              <a:t>5. Forecasting</a:t>
            </a:r>
          </a:p>
        </p:txBody>
      </p:sp>
      <p:sp>
        <p:nvSpPr>
          <p:cNvPr id="17" name="TextBox 16"/>
          <p:cNvSpPr txBox="1"/>
          <p:nvPr/>
        </p:nvSpPr>
        <p:spPr>
          <a:xfrm>
            <a:off x="4553712" y="4315968"/>
            <a:ext cx="3063240" cy="777240"/>
          </a:xfrm>
          <a:prstGeom prst="rect">
            <a:avLst/>
          </a:prstGeom>
          <a:noFill/>
        </p:spPr>
        <p:txBody>
          <a:bodyPr wrap="none">
            <a:spAutoFit/>
          </a:bodyPr>
          <a:lstStyle/>
          <a:p>
            <a:pPr>
              <a:defRPr sz="1400">
                <a:solidFill>
                  <a:srgbClr val="282828"/>
                </a:solidFill>
              </a:defRPr>
            </a:pPr>
            <a:r>
              <a:t>Apply ARIMA to cumulative cases</a:t>
            </a:r>
          </a:p>
        </p:txBody>
      </p:sp>
      <p:sp>
        <p:nvSpPr>
          <p:cNvPr id="18" name="Rounded Rectangle 17"/>
          <p:cNvSpPr/>
          <p:nvPr/>
        </p:nvSpPr>
        <p:spPr>
          <a:xfrm>
            <a:off x="8275320" y="3657600"/>
            <a:ext cx="3429000" cy="1737360"/>
          </a:xfrm>
          <a:prstGeom prst="roundRect">
            <a:avLst/>
          </a:prstGeom>
          <a:solidFill>
            <a:srgbClr val="F2F6FA"/>
          </a:solidFill>
          <a:ln>
            <a:solidFill>
              <a:srgbClr val="4472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439912" y="3822191"/>
            <a:ext cx="3063240" cy="411480"/>
          </a:xfrm>
          <a:prstGeom prst="rect">
            <a:avLst/>
          </a:prstGeom>
          <a:noFill/>
        </p:spPr>
        <p:txBody>
          <a:bodyPr wrap="none">
            <a:spAutoFit/>
          </a:bodyPr>
          <a:lstStyle/>
          <a:p>
            <a:pPr>
              <a:defRPr sz="1800" b="1">
                <a:solidFill>
                  <a:srgbClr val="1F4E79"/>
                </a:solidFill>
              </a:defRPr>
            </a:pPr>
            <a:r>
              <a:t>6. Visualize &amp; interpret</a:t>
            </a:r>
          </a:p>
        </p:txBody>
      </p:sp>
      <p:sp>
        <p:nvSpPr>
          <p:cNvPr id="20" name="TextBox 19"/>
          <p:cNvSpPr txBox="1"/>
          <p:nvPr/>
        </p:nvSpPr>
        <p:spPr>
          <a:xfrm>
            <a:off x="8439912" y="4315968"/>
            <a:ext cx="3063240" cy="777240"/>
          </a:xfrm>
          <a:prstGeom prst="rect">
            <a:avLst/>
          </a:prstGeom>
          <a:noFill/>
        </p:spPr>
        <p:txBody>
          <a:bodyPr wrap="none">
            <a:spAutoFit/>
          </a:bodyPr>
          <a:lstStyle/>
          <a:p>
            <a:pPr>
              <a:defRPr sz="1400">
                <a:solidFill>
                  <a:srgbClr val="282828"/>
                </a:solidFill>
              </a:defRPr>
            </a:pPr>
            <a:r>
              <a:t>Turn outputs into stakeholder insights</a:t>
            </a:r>
          </a:p>
        </p:txBody>
      </p:sp>
      <p:sp>
        <p:nvSpPr>
          <p:cNvPr id="21" name="Rectangle 20"/>
          <p:cNvSpPr/>
          <p:nvPr/>
        </p:nvSpPr>
        <p:spPr>
          <a:xfrm>
            <a:off x="0" y="6629400"/>
            <a:ext cx="12191695" cy="2286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698480" y="6446520"/>
            <a:ext cx="914400" cy="182880"/>
          </a:xfrm>
          <a:prstGeom prst="rect">
            <a:avLst/>
          </a:prstGeom>
          <a:noFill/>
        </p:spPr>
        <p:txBody>
          <a:bodyPr wrap="none">
            <a:spAutoFit/>
          </a:bodyPr>
          <a:lstStyle/>
          <a:p>
            <a:pPr algn="r">
              <a:defRPr sz="900">
                <a:solidFill>
                  <a:srgbClr val="1F4E79"/>
                </a:solidFill>
              </a:defRPr>
            </a:pPr>
            <a: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320040"/>
            <a:ext cx="10972800" cy="640080"/>
          </a:xfrm>
          <a:prstGeom prst="rect">
            <a:avLst/>
          </a:prstGeom>
          <a:noFill/>
        </p:spPr>
        <p:txBody>
          <a:bodyPr wrap="none">
            <a:spAutoFit/>
          </a:bodyPr>
          <a:lstStyle/>
          <a:p>
            <a:pPr>
              <a:defRPr sz="2800" b="1">
                <a:solidFill>
                  <a:srgbClr val="1F4E79"/>
                </a:solidFill>
              </a:defRPr>
            </a:pPr>
            <a:r>
              <a:t>Analysis 1 — COVID-19 Trends</a:t>
            </a:r>
          </a:p>
        </p:txBody>
      </p:sp>
      <p:sp>
        <p:nvSpPr>
          <p:cNvPr id="3" name="TextBox 2"/>
          <p:cNvSpPr txBox="1"/>
          <p:nvPr/>
        </p:nvSpPr>
        <p:spPr>
          <a:xfrm>
            <a:off x="822960" y="1417320"/>
            <a:ext cx="10515600" cy="4846320"/>
          </a:xfrm>
          <a:prstGeom prst="rect">
            <a:avLst/>
          </a:prstGeom>
          <a:noFill/>
        </p:spPr>
        <p:txBody>
          <a:bodyPr wrap="square">
            <a:spAutoFit/>
          </a:bodyPr>
          <a:lstStyle/>
          <a:p>
            <a:pPr>
              <a:spcAft>
                <a:spcPts val="1000"/>
              </a:spcAft>
              <a:defRPr sz="2100" b="0">
                <a:solidFill>
                  <a:srgbClr val="282828"/>
                </a:solidFill>
              </a:defRPr>
            </a:pPr>
            <a:r>
              <a:t>Daily and cumulative measures are examined across the 1,000-day period.</a:t>
            </a:r>
          </a:p>
          <a:p>
            <a:pPr>
              <a:spcAft>
                <a:spcPts val="1000"/>
              </a:spcAft>
              <a:defRPr sz="2100" b="0">
                <a:solidFill>
                  <a:srgbClr val="282828"/>
                </a:solidFill>
              </a:defRPr>
            </a:pPr>
            <a:r>
              <a:t>Trend analysis helps identify changes in reported COVID-19 activity.</a:t>
            </a:r>
          </a:p>
          <a:p>
            <a:pPr>
              <a:spcAft>
                <a:spcPts val="1000"/>
              </a:spcAft>
              <a:defRPr sz="2100" b="0">
                <a:solidFill>
                  <a:srgbClr val="282828"/>
                </a:solidFill>
              </a:defRPr>
            </a:pPr>
            <a:r>
              <a:t>Cases, deaths, recoveries and testing are considered together rather than as isolated metrics.</a:t>
            </a:r>
          </a:p>
          <a:p>
            <a:pPr>
              <a:spcAft>
                <a:spcPts val="1000"/>
              </a:spcAft>
              <a:defRPr sz="2100" b="0">
                <a:solidFill>
                  <a:srgbClr val="282828"/>
                </a:solidFill>
              </a:defRPr>
            </a:pPr>
            <a:r>
              <a:t>Visualizations make peaks, declines and changing patterns easier to communicate.</a:t>
            </a:r>
          </a:p>
          <a:p>
            <a:pPr>
              <a:spcAft>
                <a:spcPts val="1000"/>
              </a:spcAft>
              <a:defRPr sz="2100" b="0">
                <a:solidFill>
                  <a:srgbClr val="282828"/>
                </a:solidFill>
              </a:defRPr>
            </a:pPr>
            <a:r>
              <a:t>Result: a structured view of pandemic activity over time.</a:t>
            </a:r>
          </a:p>
        </p:txBody>
      </p:sp>
      <p:sp>
        <p:nvSpPr>
          <p:cNvPr id="4" name="Rectangle 3"/>
          <p:cNvSpPr/>
          <p:nvPr/>
        </p:nvSpPr>
        <p:spPr>
          <a:xfrm>
            <a:off x="0" y="6629400"/>
            <a:ext cx="12191695" cy="2286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698480" y="6446520"/>
            <a:ext cx="914400" cy="182880"/>
          </a:xfrm>
          <a:prstGeom prst="rect">
            <a:avLst/>
          </a:prstGeom>
          <a:noFill/>
        </p:spPr>
        <p:txBody>
          <a:bodyPr wrap="none">
            <a:spAutoFit/>
          </a:bodyPr>
          <a:lstStyle/>
          <a:p>
            <a:pPr algn="r">
              <a:defRPr sz="900">
                <a:solidFill>
                  <a:srgbClr val="1F4E79"/>
                </a:solidFill>
              </a:defRPr>
            </a:pPr>
            <a: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320040"/>
            <a:ext cx="10972800" cy="640080"/>
          </a:xfrm>
          <a:prstGeom prst="rect">
            <a:avLst/>
          </a:prstGeom>
          <a:noFill/>
        </p:spPr>
        <p:txBody>
          <a:bodyPr wrap="none">
            <a:spAutoFit/>
          </a:bodyPr>
          <a:lstStyle/>
          <a:p>
            <a:pPr>
              <a:defRPr sz="2800" b="1">
                <a:solidFill>
                  <a:srgbClr val="1F4E79"/>
                </a:solidFill>
              </a:defRPr>
            </a:pPr>
            <a:r>
              <a:t>Analysis 2 — Mortality &amp; Recovery Rates</a:t>
            </a:r>
          </a:p>
        </p:txBody>
      </p:sp>
      <p:sp>
        <p:nvSpPr>
          <p:cNvPr id="3" name="Rounded Rectangle 2"/>
          <p:cNvSpPr/>
          <p:nvPr/>
        </p:nvSpPr>
        <p:spPr>
          <a:xfrm>
            <a:off x="640080" y="1417320"/>
            <a:ext cx="5257800" cy="4526280"/>
          </a:xfrm>
          <a:prstGeom prst="roundRect">
            <a:avLst/>
          </a:prstGeom>
          <a:solidFill>
            <a:srgbClr val="F2F6FA"/>
          </a:solidFill>
          <a:ln>
            <a:solidFill>
              <a:srgbClr val="4472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1645920"/>
            <a:ext cx="4800600" cy="457200"/>
          </a:xfrm>
          <a:prstGeom prst="rect">
            <a:avLst/>
          </a:prstGeom>
          <a:noFill/>
        </p:spPr>
        <p:txBody>
          <a:bodyPr wrap="none">
            <a:spAutoFit/>
          </a:bodyPr>
          <a:lstStyle/>
          <a:p>
            <a:pPr>
              <a:defRPr sz="2000" b="1">
                <a:solidFill>
                  <a:srgbClr val="1F4E79"/>
                </a:solidFill>
              </a:defRPr>
            </a:pPr>
            <a:r>
              <a:t>Mortality Rate</a:t>
            </a:r>
          </a:p>
        </p:txBody>
      </p:sp>
      <p:sp>
        <p:nvSpPr>
          <p:cNvPr id="5" name="TextBox 4"/>
          <p:cNvSpPr txBox="1"/>
          <p:nvPr/>
        </p:nvSpPr>
        <p:spPr>
          <a:xfrm>
            <a:off x="960119" y="2148840"/>
            <a:ext cx="4572000" cy="3474720"/>
          </a:xfrm>
          <a:prstGeom prst="rect">
            <a:avLst/>
          </a:prstGeom>
          <a:noFill/>
        </p:spPr>
        <p:txBody>
          <a:bodyPr wrap="square">
            <a:spAutoFit/>
          </a:bodyPr>
          <a:lstStyle/>
          <a:p>
            <a:pPr>
              <a:spcAft>
                <a:spcPts val="1000"/>
              </a:spcAft>
              <a:defRPr sz="1700" b="0">
                <a:solidFill>
                  <a:srgbClr val="282828"/>
                </a:solidFill>
              </a:defRPr>
            </a:pPr>
            <a:r>
              <a:t>Calculated from cumulative deaths and cumulative cases.</a:t>
            </a:r>
          </a:p>
          <a:p>
            <a:pPr>
              <a:spcAft>
                <a:spcPts val="1000"/>
              </a:spcAft>
              <a:defRPr sz="1700" b="0">
                <a:solidFill>
                  <a:srgbClr val="282828"/>
                </a:solidFill>
              </a:defRPr>
            </a:pPr>
            <a:r>
              <a:t>Adds severity context beyond raw case counts.</a:t>
            </a:r>
          </a:p>
          <a:p>
            <a:pPr>
              <a:spcAft>
                <a:spcPts val="1000"/>
              </a:spcAft>
              <a:defRPr sz="1700" b="0">
                <a:solidFill>
                  <a:srgbClr val="282828"/>
                </a:solidFill>
              </a:defRPr>
            </a:pPr>
            <a:r>
              <a:t>Allows the observed relationship between deaths and cases to be monitored over time.</a:t>
            </a:r>
          </a:p>
        </p:txBody>
      </p:sp>
      <p:sp>
        <p:nvSpPr>
          <p:cNvPr id="6" name="Rounded Rectangle 5"/>
          <p:cNvSpPr/>
          <p:nvPr/>
        </p:nvSpPr>
        <p:spPr>
          <a:xfrm>
            <a:off x="6263640" y="1417320"/>
            <a:ext cx="5257800" cy="4526280"/>
          </a:xfrm>
          <a:prstGeom prst="roundRect">
            <a:avLst/>
          </a:prstGeom>
          <a:solidFill>
            <a:srgbClr val="F2F6FA"/>
          </a:solidFill>
          <a:ln>
            <a:solidFill>
              <a:srgbClr val="4472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92240" y="1645920"/>
            <a:ext cx="4800600" cy="457200"/>
          </a:xfrm>
          <a:prstGeom prst="rect">
            <a:avLst/>
          </a:prstGeom>
          <a:noFill/>
        </p:spPr>
        <p:txBody>
          <a:bodyPr wrap="none">
            <a:spAutoFit/>
          </a:bodyPr>
          <a:lstStyle/>
          <a:p>
            <a:pPr>
              <a:defRPr sz="2000" b="1">
                <a:solidFill>
                  <a:srgbClr val="1F4E79"/>
                </a:solidFill>
              </a:defRPr>
            </a:pPr>
            <a:r>
              <a:t>Recovery Rate</a:t>
            </a:r>
          </a:p>
        </p:txBody>
      </p:sp>
      <p:sp>
        <p:nvSpPr>
          <p:cNvPr id="8" name="TextBox 7"/>
          <p:cNvSpPr txBox="1"/>
          <p:nvPr/>
        </p:nvSpPr>
        <p:spPr>
          <a:xfrm>
            <a:off x="6583679" y="2148840"/>
            <a:ext cx="4572000" cy="3474720"/>
          </a:xfrm>
          <a:prstGeom prst="rect">
            <a:avLst/>
          </a:prstGeom>
          <a:noFill/>
        </p:spPr>
        <p:txBody>
          <a:bodyPr wrap="square">
            <a:spAutoFit/>
          </a:bodyPr>
          <a:lstStyle/>
          <a:p>
            <a:pPr>
              <a:spcAft>
                <a:spcPts val="1000"/>
              </a:spcAft>
              <a:defRPr sz="1700" b="0">
                <a:solidFill>
                  <a:srgbClr val="282828"/>
                </a:solidFill>
              </a:defRPr>
            </a:pPr>
            <a:r>
              <a:t>Calculated from cumulative recoveries and cumulative cases.</a:t>
            </a:r>
          </a:p>
          <a:p>
            <a:pPr>
              <a:spcAft>
                <a:spcPts val="1000"/>
              </a:spcAft>
              <a:defRPr sz="1700" b="0">
                <a:solidFill>
                  <a:srgbClr val="282828"/>
                </a:solidFill>
              </a:defRPr>
            </a:pPr>
            <a:r>
              <a:t>Provides context on recovery patterns.</a:t>
            </a:r>
          </a:p>
          <a:p>
            <a:pPr>
              <a:spcAft>
                <a:spcPts val="1000"/>
              </a:spcAft>
              <a:defRPr sz="1700" b="0">
                <a:solidFill>
                  <a:srgbClr val="282828"/>
                </a:solidFill>
              </a:defRPr>
            </a:pPr>
            <a:r>
              <a:t>Helps track how recovery changes across the analysis period.</a:t>
            </a:r>
          </a:p>
        </p:txBody>
      </p:sp>
      <p:sp>
        <p:nvSpPr>
          <p:cNvPr id="9" name="Rectangle 8"/>
          <p:cNvSpPr/>
          <p:nvPr/>
        </p:nvSpPr>
        <p:spPr>
          <a:xfrm>
            <a:off x="0" y="6629400"/>
            <a:ext cx="12191695" cy="2286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698480" y="6446520"/>
            <a:ext cx="914400" cy="182880"/>
          </a:xfrm>
          <a:prstGeom prst="rect">
            <a:avLst/>
          </a:prstGeom>
          <a:noFill/>
        </p:spPr>
        <p:txBody>
          <a:bodyPr wrap="none">
            <a:spAutoFit/>
          </a:bodyPr>
          <a:lstStyle/>
          <a:p>
            <a:pPr algn="r">
              <a:defRPr sz="900">
                <a:solidFill>
                  <a:srgbClr val="1F4E79"/>
                </a:solidFill>
              </a:defRPr>
            </a:pPr>
            <a: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320040"/>
            <a:ext cx="10972800" cy="640080"/>
          </a:xfrm>
          <a:prstGeom prst="rect">
            <a:avLst/>
          </a:prstGeom>
          <a:noFill/>
        </p:spPr>
        <p:txBody>
          <a:bodyPr wrap="none">
            <a:spAutoFit/>
          </a:bodyPr>
          <a:lstStyle/>
          <a:p>
            <a:pPr>
              <a:defRPr sz="2800" b="1">
                <a:solidFill>
                  <a:srgbClr val="1F4E79"/>
                </a:solidFill>
              </a:defRPr>
            </a:pPr>
            <a:r>
              <a:t>Analysis 3 — Testing &amp; Case Detection</a:t>
            </a:r>
          </a:p>
        </p:txBody>
      </p:sp>
      <p:sp>
        <p:nvSpPr>
          <p:cNvPr id="3" name="TextBox 2"/>
          <p:cNvSpPr txBox="1"/>
          <p:nvPr/>
        </p:nvSpPr>
        <p:spPr>
          <a:xfrm>
            <a:off x="822960" y="1417320"/>
            <a:ext cx="10515600" cy="4846320"/>
          </a:xfrm>
          <a:prstGeom prst="rect">
            <a:avLst/>
          </a:prstGeom>
          <a:noFill/>
        </p:spPr>
        <p:txBody>
          <a:bodyPr wrap="square">
            <a:spAutoFit/>
          </a:bodyPr>
          <a:lstStyle/>
          <a:p>
            <a:pPr>
              <a:spcAft>
                <a:spcPts val="1000"/>
              </a:spcAft>
              <a:defRPr sz="2100" b="0">
                <a:solidFill>
                  <a:srgbClr val="282828"/>
                </a:solidFill>
              </a:defRPr>
            </a:pPr>
            <a:r>
              <a:t>Correlation analysis examines the statistical relationship between testing volume and reported case detection.</a:t>
            </a:r>
          </a:p>
          <a:p>
            <a:pPr>
              <a:spcAft>
                <a:spcPts val="1000"/>
              </a:spcAft>
              <a:defRPr sz="2100" b="0">
                <a:solidFill>
                  <a:srgbClr val="282828"/>
                </a:solidFill>
              </a:defRPr>
            </a:pPr>
            <a:r>
              <a:t>The analysis helps identify whether changes in testing volume move together with changes in detected cases.</a:t>
            </a:r>
          </a:p>
          <a:p>
            <a:pPr>
              <a:spcAft>
                <a:spcPts val="1000"/>
              </a:spcAft>
              <a:defRPr sz="2100" b="0">
                <a:solidFill>
                  <a:srgbClr val="282828"/>
                </a:solidFill>
              </a:defRPr>
            </a:pPr>
            <a:r>
              <a:t>Correlation describes association; it does not by itself establish causation.</a:t>
            </a:r>
          </a:p>
          <a:p>
            <a:pPr>
              <a:spcAft>
                <a:spcPts val="1000"/>
              </a:spcAft>
              <a:defRPr sz="2100" b="0">
                <a:solidFill>
                  <a:srgbClr val="282828"/>
                </a:solidFill>
              </a:defRPr>
            </a:pPr>
            <a:r>
              <a:t>The output provides an additional signal for interpreting testing and case-detection patterns.</a:t>
            </a:r>
          </a:p>
        </p:txBody>
      </p:sp>
      <p:sp>
        <p:nvSpPr>
          <p:cNvPr id="4" name="Rectangle 3"/>
          <p:cNvSpPr/>
          <p:nvPr/>
        </p:nvSpPr>
        <p:spPr>
          <a:xfrm>
            <a:off x="0" y="6629400"/>
            <a:ext cx="12191695" cy="2286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698480" y="6446520"/>
            <a:ext cx="914400" cy="182880"/>
          </a:xfrm>
          <a:prstGeom prst="rect">
            <a:avLst/>
          </a:prstGeom>
          <a:noFill/>
        </p:spPr>
        <p:txBody>
          <a:bodyPr wrap="none">
            <a:spAutoFit/>
          </a:bodyPr>
          <a:lstStyle/>
          <a:p>
            <a:pPr algn="r">
              <a:defRPr sz="900">
                <a:solidFill>
                  <a:srgbClr val="1F4E79"/>
                </a:solidFill>
              </a:defRPr>
            </a:pPr>
            <a: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320040"/>
            <a:ext cx="10972800" cy="640080"/>
          </a:xfrm>
          <a:prstGeom prst="rect">
            <a:avLst/>
          </a:prstGeom>
          <a:noFill/>
        </p:spPr>
        <p:txBody>
          <a:bodyPr wrap="none">
            <a:spAutoFit/>
          </a:bodyPr>
          <a:lstStyle/>
          <a:p>
            <a:pPr>
              <a:defRPr sz="2800" b="1">
                <a:solidFill>
                  <a:srgbClr val="1F4E79"/>
                </a:solidFill>
              </a:defRPr>
            </a:pPr>
            <a:r>
              <a:t>Analysis 4 — ARIMA Forecasting</a:t>
            </a:r>
          </a:p>
        </p:txBody>
      </p:sp>
      <p:sp>
        <p:nvSpPr>
          <p:cNvPr id="3" name="TextBox 2"/>
          <p:cNvSpPr txBox="1"/>
          <p:nvPr/>
        </p:nvSpPr>
        <p:spPr>
          <a:xfrm>
            <a:off x="822960" y="1417320"/>
            <a:ext cx="10515600" cy="4846320"/>
          </a:xfrm>
          <a:prstGeom prst="rect">
            <a:avLst/>
          </a:prstGeom>
          <a:noFill/>
        </p:spPr>
        <p:txBody>
          <a:bodyPr wrap="square">
            <a:spAutoFit/>
          </a:bodyPr>
          <a:lstStyle/>
          <a:p>
            <a:pPr>
              <a:spcAft>
                <a:spcPts val="1000"/>
              </a:spcAft>
              <a:defRPr sz="2100" b="0">
                <a:solidFill>
                  <a:srgbClr val="282828"/>
                </a:solidFill>
              </a:defRPr>
            </a:pPr>
            <a:r>
              <a:t>An ARIMA time-series model is applied to cumulative COVID-19 cases.</a:t>
            </a:r>
          </a:p>
          <a:p>
            <a:pPr>
              <a:spcAft>
                <a:spcPts val="1000"/>
              </a:spcAft>
              <a:defRPr sz="2100" b="0">
                <a:solidFill>
                  <a:srgbClr val="282828"/>
                </a:solidFill>
              </a:defRPr>
            </a:pPr>
            <a:r>
              <a:t>The model uses historical time-series patterns to generate a forward-looking forecast.</a:t>
            </a:r>
          </a:p>
          <a:p>
            <a:pPr>
              <a:spcAft>
                <a:spcPts val="1000"/>
              </a:spcAft>
              <a:defRPr sz="2100" b="0">
                <a:solidFill>
                  <a:srgbClr val="282828"/>
                </a:solidFill>
              </a:defRPr>
            </a:pPr>
            <a:r>
              <a:t>Forecasting adds a planning perspective to the historical trend analysis.</a:t>
            </a:r>
          </a:p>
          <a:p>
            <a:pPr>
              <a:spcAft>
                <a:spcPts val="1000"/>
              </a:spcAft>
              <a:defRPr sz="2100" b="0">
                <a:solidFill>
                  <a:srgbClr val="282828"/>
                </a:solidFill>
              </a:defRPr>
            </a:pPr>
            <a:r>
              <a:t>The forecast should be treated as an analytical input rather than a guarantee of future outcomes.</a:t>
            </a:r>
          </a:p>
        </p:txBody>
      </p:sp>
      <p:sp>
        <p:nvSpPr>
          <p:cNvPr id="4" name="Rectangle 3"/>
          <p:cNvSpPr/>
          <p:nvPr/>
        </p:nvSpPr>
        <p:spPr>
          <a:xfrm>
            <a:off x="0" y="6629400"/>
            <a:ext cx="12191695" cy="2286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698480" y="6446520"/>
            <a:ext cx="914400" cy="182880"/>
          </a:xfrm>
          <a:prstGeom prst="rect">
            <a:avLst/>
          </a:prstGeom>
          <a:noFill/>
        </p:spPr>
        <p:txBody>
          <a:bodyPr wrap="none">
            <a:spAutoFit/>
          </a:bodyPr>
          <a:lstStyle/>
          <a:p>
            <a:pPr algn="r">
              <a:defRPr sz="900">
                <a:solidFill>
                  <a:srgbClr val="1F4E79"/>
                </a:solidFill>
              </a:defRPr>
            </a:pPr>
            <a: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320040"/>
            <a:ext cx="10972800" cy="640080"/>
          </a:xfrm>
          <a:prstGeom prst="rect">
            <a:avLst/>
          </a:prstGeom>
          <a:noFill/>
        </p:spPr>
        <p:txBody>
          <a:bodyPr wrap="none">
            <a:spAutoFit/>
          </a:bodyPr>
          <a:lstStyle/>
          <a:p>
            <a:pPr>
              <a:defRPr sz="2800" b="1">
                <a:solidFill>
                  <a:srgbClr val="1F4E79"/>
                </a:solidFill>
              </a:defRPr>
            </a:pPr>
            <a:r>
              <a:t>Results Produced</a:t>
            </a:r>
          </a:p>
        </p:txBody>
      </p:sp>
      <p:sp>
        <p:nvSpPr>
          <p:cNvPr id="3" name="Rounded Rectangle 2"/>
          <p:cNvSpPr/>
          <p:nvPr/>
        </p:nvSpPr>
        <p:spPr>
          <a:xfrm>
            <a:off x="640080" y="1417320"/>
            <a:ext cx="5257800" cy="4526280"/>
          </a:xfrm>
          <a:prstGeom prst="roundRect">
            <a:avLst/>
          </a:prstGeom>
          <a:solidFill>
            <a:srgbClr val="F2F6FA"/>
          </a:solidFill>
          <a:ln>
            <a:solidFill>
              <a:srgbClr val="4472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1645920"/>
            <a:ext cx="4800600" cy="457200"/>
          </a:xfrm>
          <a:prstGeom prst="rect">
            <a:avLst/>
          </a:prstGeom>
          <a:noFill/>
        </p:spPr>
        <p:txBody>
          <a:bodyPr wrap="none">
            <a:spAutoFit/>
          </a:bodyPr>
          <a:lstStyle/>
          <a:p>
            <a:pPr>
              <a:defRPr sz="2000" b="1">
                <a:solidFill>
                  <a:srgbClr val="1F4E79"/>
                </a:solidFill>
              </a:defRPr>
            </a:pPr>
            <a:r>
              <a:t>Analytical Results</a:t>
            </a:r>
          </a:p>
        </p:txBody>
      </p:sp>
      <p:sp>
        <p:nvSpPr>
          <p:cNvPr id="5" name="TextBox 4"/>
          <p:cNvSpPr txBox="1"/>
          <p:nvPr/>
        </p:nvSpPr>
        <p:spPr>
          <a:xfrm>
            <a:off x="960119" y="2148840"/>
            <a:ext cx="4572000" cy="3474720"/>
          </a:xfrm>
          <a:prstGeom prst="rect">
            <a:avLst/>
          </a:prstGeom>
          <a:noFill/>
        </p:spPr>
        <p:txBody>
          <a:bodyPr wrap="square">
            <a:spAutoFit/>
          </a:bodyPr>
          <a:lstStyle/>
          <a:p>
            <a:pPr>
              <a:spcAft>
                <a:spcPts val="1000"/>
              </a:spcAft>
              <a:defRPr sz="1700" b="0">
                <a:solidFill>
                  <a:srgbClr val="282828"/>
                </a:solidFill>
              </a:defRPr>
            </a:pPr>
            <a:r>
              <a:t>COVID-19 trend visualizations</a:t>
            </a:r>
          </a:p>
          <a:p>
            <a:pPr>
              <a:spcAft>
                <a:spcPts val="1000"/>
              </a:spcAft>
              <a:defRPr sz="1700" b="0">
                <a:solidFill>
                  <a:srgbClr val="282828"/>
                </a:solidFill>
              </a:defRPr>
            </a:pPr>
            <a:r>
              <a:t>Mortality-rate analysis</a:t>
            </a:r>
          </a:p>
          <a:p>
            <a:pPr>
              <a:spcAft>
                <a:spcPts val="1000"/>
              </a:spcAft>
              <a:defRPr sz="1700" b="0">
                <a:solidFill>
                  <a:srgbClr val="282828"/>
                </a:solidFill>
              </a:defRPr>
            </a:pPr>
            <a:r>
              <a:t>Recovery-rate analysis</a:t>
            </a:r>
          </a:p>
          <a:p>
            <a:pPr>
              <a:spcAft>
                <a:spcPts val="1000"/>
              </a:spcAft>
              <a:defRPr sz="1700" b="0">
                <a:solidFill>
                  <a:srgbClr val="282828"/>
                </a:solidFill>
              </a:defRPr>
            </a:pPr>
            <a:r>
              <a:t>Testing/case correlation analysis</a:t>
            </a:r>
          </a:p>
        </p:txBody>
      </p:sp>
      <p:sp>
        <p:nvSpPr>
          <p:cNvPr id="6" name="Rounded Rectangle 5"/>
          <p:cNvSpPr/>
          <p:nvPr/>
        </p:nvSpPr>
        <p:spPr>
          <a:xfrm>
            <a:off x="6263640" y="1417320"/>
            <a:ext cx="5257800" cy="4526280"/>
          </a:xfrm>
          <a:prstGeom prst="roundRect">
            <a:avLst/>
          </a:prstGeom>
          <a:solidFill>
            <a:srgbClr val="F2F6FA"/>
          </a:solidFill>
          <a:ln>
            <a:solidFill>
              <a:srgbClr val="4472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92240" y="1645920"/>
            <a:ext cx="4800600" cy="457200"/>
          </a:xfrm>
          <a:prstGeom prst="rect">
            <a:avLst/>
          </a:prstGeom>
          <a:noFill/>
        </p:spPr>
        <p:txBody>
          <a:bodyPr wrap="none">
            <a:spAutoFit/>
          </a:bodyPr>
          <a:lstStyle/>
          <a:p>
            <a:pPr>
              <a:defRPr sz="2000" b="1">
                <a:solidFill>
                  <a:srgbClr val="1F4E79"/>
                </a:solidFill>
              </a:defRPr>
            </a:pPr>
            <a:r>
              <a:t>Forecasting &amp; Communication</a:t>
            </a:r>
          </a:p>
        </p:txBody>
      </p:sp>
      <p:sp>
        <p:nvSpPr>
          <p:cNvPr id="8" name="TextBox 7"/>
          <p:cNvSpPr txBox="1"/>
          <p:nvPr/>
        </p:nvSpPr>
        <p:spPr>
          <a:xfrm>
            <a:off x="6583679" y="2148840"/>
            <a:ext cx="4572000" cy="3474720"/>
          </a:xfrm>
          <a:prstGeom prst="rect">
            <a:avLst/>
          </a:prstGeom>
          <a:noFill/>
        </p:spPr>
        <p:txBody>
          <a:bodyPr wrap="square">
            <a:spAutoFit/>
          </a:bodyPr>
          <a:lstStyle/>
          <a:p>
            <a:pPr>
              <a:spcAft>
                <a:spcPts val="1000"/>
              </a:spcAft>
              <a:defRPr sz="1700" b="0">
                <a:solidFill>
                  <a:srgbClr val="282828"/>
                </a:solidFill>
              </a:defRPr>
            </a:pPr>
            <a:r>
              <a:t>ARIMA cumulative-case forecast</a:t>
            </a:r>
          </a:p>
          <a:p>
            <a:pPr>
              <a:spcAft>
                <a:spcPts val="1000"/>
              </a:spcAft>
              <a:defRPr sz="1700" b="0">
                <a:solidFill>
                  <a:srgbClr val="282828"/>
                </a:solidFill>
              </a:defRPr>
            </a:pPr>
            <a:r>
              <a:t>Time-series insights</a:t>
            </a:r>
          </a:p>
          <a:p>
            <a:pPr>
              <a:spcAft>
                <a:spcPts val="1000"/>
              </a:spcAft>
              <a:defRPr sz="1700" b="0">
                <a:solidFill>
                  <a:srgbClr val="282828"/>
                </a:solidFill>
              </a:defRPr>
            </a:pPr>
            <a:r>
              <a:t>Visual interpretation of patterns</a:t>
            </a:r>
          </a:p>
          <a:p>
            <a:pPr>
              <a:spcAft>
                <a:spcPts val="1000"/>
              </a:spcAft>
              <a:defRPr sz="1700" b="0">
                <a:solidFill>
                  <a:srgbClr val="282828"/>
                </a:solidFill>
              </a:defRPr>
            </a:pPr>
            <a:r>
              <a:t>Decision-oriented analytical narrative</a:t>
            </a:r>
          </a:p>
        </p:txBody>
      </p:sp>
      <p:sp>
        <p:nvSpPr>
          <p:cNvPr id="9" name="Rectangle 8"/>
          <p:cNvSpPr/>
          <p:nvPr/>
        </p:nvSpPr>
        <p:spPr>
          <a:xfrm>
            <a:off x="0" y="6629400"/>
            <a:ext cx="12191695" cy="2286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698480" y="6446520"/>
            <a:ext cx="914400" cy="182880"/>
          </a:xfrm>
          <a:prstGeom prst="rect">
            <a:avLst/>
          </a:prstGeom>
          <a:noFill/>
        </p:spPr>
        <p:txBody>
          <a:bodyPr wrap="none">
            <a:spAutoFit/>
          </a:bodyPr>
          <a:lstStyle/>
          <a:p>
            <a:pPr algn="r">
              <a:defRPr sz="900">
                <a:solidFill>
                  <a:srgbClr val="1F4E79"/>
                </a:solidFill>
              </a:defRPr>
            </a:pPr>
            <a: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320040"/>
            <a:ext cx="10972800" cy="640080"/>
          </a:xfrm>
          <a:prstGeom prst="rect">
            <a:avLst/>
          </a:prstGeom>
          <a:noFill/>
        </p:spPr>
        <p:txBody>
          <a:bodyPr wrap="none">
            <a:spAutoFit/>
          </a:bodyPr>
          <a:lstStyle/>
          <a:p>
            <a:pPr>
              <a:defRPr sz="2800" b="1">
                <a:solidFill>
                  <a:srgbClr val="1F4E79"/>
                </a:solidFill>
              </a:defRPr>
            </a:pPr>
            <a:r>
              <a:t>Practical Impact for Eko Hospital</a:t>
            </a:r>
          </a:p>
        </p:txBody>
      </p:sp>
      <p:sp>
        <p:nvSpPr>
          <p:cNvPr id="3" name="TextBox 2"/>
          <p:cNvSpPr txBox="1"/>
          <p:nvPr/>
        </p:nvSpPr>
        <p:spPr>
          <a:xfrm>
            <a:off x="822960" y="1417320"/>
            <a:ext cx="10515600" cy="4846320"/>
          </a:xfrm>
          <a:prstGeom prst="rect">
            <a:avLst/>
          </a:prstGeom>
          <a:noFill/>
        </p:spPr>
        <p:txBody>
          <a:bodyPr wrap="square">
            <a:spAutoFit/>
          </a:bodyPr>
          <a:lstStyle/>
          <a:p>
            <a:pPr>
              <a:spcAft>
                <a:spcPts val="1000"/>
              </a:spcAft>
              <a:defRPr sz="1800" b="0">
                <a:solidFill>
                  <a:srgbClr val="282828"/>
                </a:solidFill>
              </a:defRPr>
            </a:pPr>
            <a:r>
              <a:t>Public-health surveillance — organizes historical COVID-19 observations into a structured monitoring view.</a:t>
            </a:r>
          </a:p>
          <a:p>
            <a:pPr>
              <a:spcAft>
                <a:spcPts val="1000"/>
              </a:spcAft>
              <a:defRPr sz="1800" b="0">
                <a:solidFill>
                  <a:srgbClr val="282828"/>
                </a:solidFill>
              </a:defRPr>
            </a:pPr>
            <a:r>
              <a:t>Outbreak monitoring — helps track changes in cases, deaths, recoveries and testing.</a:t>
            </a:r>
          </a:p>
          <a:p>
            <a:pPr>
              <a:spcAft>
                <a:spcPts val="1000"/>
              </a:spcAft>
              <a:defRPr sz="1800" b="0">
                <a:solidFill>
                  <a:srgbClr val="282828"/>
                </a:solidFill>
              </a:defRPr>
            </a:pPr>
            <a:r>
              <a:t>Severity context — mortality and recovery rates add information beyond case counts.</a:t>
            </a:r>
          </a:p>
          <a:p>
            <a:pPr>
              <a:spcAft>
                <a:spcPts val="1000"/>
              </a:spcAft>
              <a:defRPr sz="1800" b="0">
                <a:solidFill>
                  <a:srgbClr val="282828"/>
                </a:solidFill>
              </a:defRPr>
            </a:pPr>
            <a:r>
              <a:t>Testing insight — correlation analysis provides evidence about testing and detected-case patterns.</a:t>
            </a:r>
          </a:p>
          <a:p>
            <a:pPr>
              <a:spcAft>
                <a:spcPts val="1000"/>
              </a:spcAft>
              <a:defRPr sz="1800" b="0">
                <a:solidFill>
                  <a:srgbClr val="282828"/>
                </a:solidFill>
              </a:defRPr>
            </a:pPr>
            <a:r>
              <a:t>Preparedness — forecasting provides a forward-looking signal for planning scenarios.</a:t>
            </a:r>
          </a:p>
          <a:p>
            <a:pPr>
              <a:spcAft>
                <a:spcPts val="1000"/>
              </a:spcAft>
              <a:defRPr sz="1800" b="0">
                <a:solidFill>
                  <a:srgbClr val="282828"/>
                </a:solidFill>
              </a:defRPr>
            </a:pPr>
            <a:r>
              <a:t>Resource planning — analytical outputs can inform discussions around preparedness and allocation.</a:t>
            </a:r>
          </a:p>
        </p:txBody>
      </p:sp>
      <p:sp>
        <p:nvSpPr>
          <p:cNvPr id="4" name="Rectangle 3"/>
          <p:cNvSpPr/>
          <p:nvPr/>
        </p:nvSpPr>
        <p:spPr>
          <a:xfrm>
            <a:off x="0" y="6629400"/>
            <a:ext cx="12191695" cy="2286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698480" y="6446520"/>
            <a:ext cx="914400" cy="182880"/>
          </a:xfrm>
          <a:prstGeom prst="rect">
            <a:avLst/>
          </a:prstGeom>
          <a:noFill/>
        </p:spPr>
        <p:txBody>
          <a:bodyPr wrap="none">
            <a:spAutoFit/>
          </a:bodyPr>
          <a:lstStyle/>
          <a:p>
            <a:pPr algn="r">
              <a:defRPr sz="900">
                <a:solidFill>
                  <a:srgbClr val="1F4E79"/>
                </a:solidFill>
              </a:defRPr>
            </a:pPr>
            <a: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320040"/>
            <a:ext cx="10972800" cy="640080"/>
          </a:xfrm>
          <a:prstGeom prst="rect">
            <a:avLst/>
          </a:prstGeom>
          <a:noFill/>
        </p:spPr>
        <p:txBody>
          <a:bodyPr wrap="none">
            <a:spAutoFit/>
          </a:bodyPr>
          <a:lstStyle/>
          <a:p>
            <a:pPr>
              <a:defRPr sz="2800" b="1">
                <a:solidFill>
                  <a:srgbClr val="1F4E79"/>
                </a:solidFill>
              </a:defRPr>
            </a:pPr>
            <a:r>
              <a:t>From Work to Impact</a:t>
            </a:r>
          </a:p>
        </p:txBody>
      </p:sp>
      <p:sp>
        <p:nvSpPr>
          <p:cNvPr id="3" name="Rounded Rectangle 2"/>
          <p:cNvSpPr/>
          <p:nvPr/>
        </p:nvSpPr>
        <p:spPr>
          <a:xfrm>
            <a:off x="411480" y="1920240"/>
            <a:ext cx="2468880" cy="2468880"/>
          </a:xfrm>
          <a:prstGeom prst="roundRect">
            <a:avLst/>
          </a:prstGeom>
          <a:solidFill>
            <a:srgbClr val="F2F6FA"/>
          </a:solidFill>
          <a:ln>
            <a:solidFill>
              <a:srgbClr val="4472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240280"/>
            <a:ext cx="2194560" cy="457200"/>
          </a:xfrm>
          <a:prstGeom prst="rect">
            <a:avLst/>
          </a:prstGeom>
          <a:noFill/>
        </p:spPr>
        <p:txBody>
          <a:bodyPr wrap="none">
            <a:spAutoFit/>
          </a:bodyPr>
          <a:lstStyle/>
          <a:p>
            <a:pPr algn="ctr">
              <a:defRPr sz="1700" b="1">
                <a:solidFill>
                  <a:srgbClr val="1F4E79"/>
                </a:solidFill>
              </a:defRPr>
            </a:pPr>
            <a:r>
              <a:t>WHAT I DID</a:t>
            </a:r>
          </a:p>
        </p:txBody>
      </p:sp>
      <p:sp>
        <p:nvSpPr>
          <p:cNvPr id="5" name="TextBox 4"/>
          <p:cNvSpPr txBox="1"/>
          <p:nvPr/>
        </p:nvSpPr>
        <p:spPr>
          <a:xfrm>
            <a:off x="548640" y="2926080"/>
            <a:ext cx="2194560" cy="1005840"/>
          </a:xfrm>
          <a:prstGeom prst="rect">
            <a:avLst/>
          </a:prstGeom>
          <a:noFill/>
        </p:spPr>
        <p:txBody>
          <a:bodyPr wrap="none">
            <a:spAutoFit/>
          </a:bodyPr>
          <a:lstStyle/>
          <a:p>
            <a:pPr algn="ctr">
              <a:defRPr sz="1600">
                <a:solidFill>
                  <a:srgbClr val="282828"/>
                </a:solidFill>
              </a:defRPr>
            </a:pPr>
            <a:r>
              <a:t>Analyzed COVID-19 data</a:t>
            </a:r>
            <a:br/>
            <a:r>
              <a:t>with Python</a:t>
            </a:r>
          </a:p>
        </p:txBody>
      </p:sp>
      <p:sp>
        <p:nvSpPr>
          <p:cNvPr id="6" name="Right Arrow 5"/>
          <p:cNvSpPr/>
          <p:nvPr/>
        </p:nvSpPr>
        <p:spPr>
          <a:xfrm>
            <a:off x="2898648" y="2788920"/>
            <a:ext cx="411480" cy="411480"/>
          </a:xfrm>
          <a:prstGeom prst="rightArrow">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3337560" y="1920240"/>
            <a:ext cx="2468880" cy="2468880"/>
          </a:xfrm>
          <a:prstGeom prst="roundRect">
            <a:avLst/>
          </a:prstGeom>
          <a:solidFill>
            <a:srgbClr val="F2F6FA"/>
          </a:solidFill>
          <a:ln>
            <a:solidFill>
              <a:srgbClr val="4472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474720" y="2240280"/>
            <a:ext cx="2194560" cy="457200"/>
          </a:xfrm>
          <a:prstGeom prst="rect">
            <a:avLst/>
          </a:prstGeom>
          <a:noFill/>
        </p:spPr>
        <p:txBody>
          <a:bodyPr wrap="none">
            <a:spAutoFit/>
          </a:bodyPr>
          <a:lstStyle/>
          <a:p>
            <a:pPr algn="ctr">
              <a:defRPr sz="1700" b="1">
                <a:solidFill>
                  <a:srgbClr val="1F4E79"/>
                </a:solidFill>
              </a:defRPr>
            </a:pPr>
            <a:r>
              <a:t>WHO</a:t>
            </a:r>
          </a:p>
        </p:txBody>
      </p:sp>
      <p:sp>
        <p:nvSpPr>
          <p:cNvPr id="9" name="TextBox 8"/>
          <p:cNvSpPr txBox="1"/>
          <p:nvPr/>
        </p:nvSpPr>
        <p:spPr>
          <a:xfrm>
            <a:off x="3474720" y="2926080"/>
            <a:ext cx="2194560" cy="1005840"/>
          </a:xfrm>
          <a:prstGeom prst="rect">
            <a:avLst/>
          </a:prstGeom>
          <a:noFill/>
        </p:spPr>
        <p:txBody>
          <a:bodyPr wrap="none">
            <a:spAutoFit/>
          </a:bodyPr>
          <a:lstStyle/>
          <a:p>
            <a:pPr algn="ctr">
              <a:defRPr sz="1600">
                <a:solidFill>
                  <a:srgbClr val="282828"/>
                </a:solidFill>
              </a:defRPr>
            </a:pPr>
            <a:r>
              <a:t>Eko Hospital</a:t>
            </a:r>
            <a:br/>
            <a:r>
              <a:t>stakeholder context</a:t>
            </a:r>
          </a:p>
        </p:txBody>
      </p:sp>
      <p:sp>
        <p:nvSpPr>
          <p:cNvPr id="10" name="Right Arrow 9"/>
          <p:cNvSpPr/>
          <p:nvPr/>
        </p:nvSpPr>
        <p:spPr>
          <a:xfrm>
            <a:off x="5824728" y="2788920"/>
            <a:ext cx="411480" cy="411480"/>
          </a:xfrm>
          <a:prstGeom prst="rightArrow">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63640" y="1920240"/>
            <a:ext cx="2468880" cy="2468880"/>
          </a:xfrm>
          <a:prstGeom prst="roundRect">
            <a:avLst/>
          </a:prstGeom>
          <a:solidFill>
            <a:srgbClr val="F2F6FA"/>
          </a:solidFill>
          <a:ln>
            <a:solidFill>
              <a:srgbClr val="4472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0" y="2240280"/>
            <a:ext cx="2194560" cy="457200"/>
          </a:xfrm>
          <a:prstGeom prst="rect">
            <a:avLst/>
          </a:prstGeom>
          <a:noFill/>
        </p:spPr>
        <p:txBody>
          <a:bodyPr wrap="none">
            <a:spAutoFit/>
          </a:bodyPr>
          <a:lstStyle/>
          <a:p>
            <a:pPr algn="ctr">
              <a:defRPr sz="1700" b="1">
                <a:solidFill>
                  <a:srgbClr val="1F4E79"/>
                </a:solidFill>
              </a:defRPr>
            </a:pPr>
            <a:r>
              <a:t>RESULT</a:t>
            </a:r>
          </a:p>
        </p:txBody>
      </p:sp>
      <p:sp>
        <p:nvSpPr>
          <p:cNvPr id="13" name="TextBox 12"/>
          <p:cNvSpPr txBox="1"/>
          <p:nvPr/>
        </p:nvSpPr>
        <p:spPr>
          <a:xfrm>
            <a:off x="6400800" y="2926080"/>
            <a:ext cx="2194560" cy="1005840"/>
          </a:xfrm>
          <a:prstGeom prst="rect">
            <a:avLst/>
          </a:prstGeom>
          <a:noFill/>
        </p:spPr>
        <p:txBody>
          <a:bodyPr wrap="none">
            <a:spAutoFit/>
          </a:bodyPr>
          <a:lstStyle/>
          <a:p>
            <a:pPr algn="ctr">
              <a:defRPr sz="1600">
                <a:solidFill>
                  <a:srgbClr val="282828"/>
                </a:solidFill>
              </a:defRPr>
            </a:pPr>
            <a:r>
              <a:t>Trends + rates +</a:t>
            </a:r>
            <a:br/>
            <a:r>
              <a:t>correlation + forecast</a:t>
            </a:r>
          </a:p>
        </p:txBody>
      </p:sp>
      <p:sp>
        <p:nvSpPr>
          <p:cNvPr id="14" name="Right Arrow 13"/>
          <p:cNvSpPr/>
          <p:nvPr/>
        </p:nvSpPr>
        <p:spPr>
          <a:xfrm>
            <a:off x="8750808" y="2788920"/>
            <a:ext cx="411480" cy="411480"/>
          </a:xfrm>
          <a:prstGeom prst="rightArrow">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9189720" y="1920240"/>
            <a:ext cx="2468880" cy="2468880"/>
          </a:xfrm>
          <a:prstGeom prst="roundRect">
            <a:avLst/>
          </a:prstGeom>
          <a:solidFill>
            <a:srgbClr val="F2F6FA"/>
          </a:solidFill>
          <a:ln>
            <a:solidFill>
              <a:srgbClr val="4472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326880" y="2240280"/>
            <a:ext cx="2194560" cy="457200"/>
          </a:xfrm>
          <a:prstGeom prst="rect">
            <a:avLst/>
          </a:prstGeom>
          <a:noFill/>
        </p:spPr>
        <p:txBody>
          <a:bodyPr wrap="none">
            <a:spAutoFit/>
          </a:bodyPr>
          <a:lstStyle/>
          <a:p>
            <a:pPr algn="ctr">
              <a:defRPr sz="1700" b="1">
                <a:solidFill>
                  <a:srgbClr val="1F4E79"/>
                </a:solidFill>
              </a:defRPr>
            </a:pPr>
            <a:r>
              <a:t>IMPACT</a:t>
            </a:r>
          </a:p>
        </p:txBody>
      </p:sp>
      <p:sp>
        <p:nvSpPr>
          <p:cNvPr id="17" name="TextBox 16"/>
          <p:cNvSpPr txBox="1"/>
          <p:nvPr/>
        </p:nvSpPr>
        <p:spPr>
          <a:xfrm>
            <a:off x="9326880" y="2926080"/>
            <a:ext cx="2194560" cy="1005840"/>
          </a:xfrm>
          <a:prstGeom prst="rect">
            <a:avLst/>
          </a:prstGeom>
          <a:noFill/>
        </p:spPr>
        <p:txBody>
          <a:bodyPr wrap="none">
            <a:spAutoFit/>
          </a:bodyPr>
          <a:lstStyle/>
          <a:p>
            <a:pPr algn="ctr">
              <a:defRPr sz="1600">
                <a:solidFill>
                  <a:srgbClr val="282828"/>
                </a:solidFill>
              </a:defRPr>
            </a:pPr>
            <a:r>
              <a:t>Surveillance +</a:t>
            </a:r>
            <a:br/>
            <a:r>
              <a:t>preparedness + planning</a:t>
            </a:r>
          </a:p>
        </p:txBody>
      </p:sp>
      <p:sp>
        <p:nvSpPr>
          <p:cNvPr id="18" name="Rectangle 17"/>
          <p:cNvSpPr/>
          <p:nvPr/>
        </p:nvSpPr>
        <p:spPr>
          <a:xfrm>
            <a:off x="0" y="6629400"/>
            <a:ext cx="12191695" cy="2286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698480" y="6446520"/>
            <a:ext cx="914400" cy="182880"/>
          </a:xfrm>
          <a:prstGeom prst="rect">
            <a:avLst/>
          </a:prstGeom>
          <a:noFill/>
        </p:spPr>
        <p:txBody>
          <a:bodyPr wrap="none">
            <a:spAutoFit/>
          </a:bodyPr>
          <a:lstStyle/>
          <a:p>
            <a:pPr algn="r">
              <a:defRPr sz="900">
                <a:solidFill>
                  <a:srgbClr val="1F4E79"/>
                </a:solidFill>
              </a:defRPr>
            </a:pPr>
            <a: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320040"/>
            <a:ext cx="10972800" cy="640080"/>
          </a:xfrm>
          <a:prstGeom prst="rect">
            <a:avLst/>
          </a:prstGeom>
          <a:noFill/>
        </p:spPr>
        <p:txBody>
          <a:bodyPr wrap="none">
            <a:spAutoFit/>
          </a:bodyPr>
          <a:lstStyle/>
          <a:p>
            <a:pPr>
              <a:defRPr sz="2800" b="1">
                <a:solidFill>
                  <a:srgbClr val="1F4E79"/>
                </a:solidFill>
              </a:defRPr>
            </a:pPr>
            <a:r>
              <a:t>Technical Skills Demonstrated</a:t>
            </a:r>
          </a:p>
        </p:txBody>
      </p:sp>
      <p:sp>
        <p:nvSpPr>
          <p:cNvPr id="3" name="TextBox 2"/>
          <p:cNvSpPr txBox="1"/>
          <p:nvPr/>
        </p:nvSpPr>
        <p:spPr>
          <a:xfrm>
            <a:off x="1097280" y="1371600"/>
            <a:ext cx="9875520" cy="4754880"/>
          </a:xfrm>
          <a:prstGeom prst="rect">
            <a:avLst/>
          </a:prstGeom>
          <a:noFill/>
        </p:spPr>
        <p:txBody>
          <a:bodyPr wrap="square">
            <a:spAutoFit/>
          </a:bodyPr>
          <a:lstStyle/>
          <a:p>
            <a:pPr>
              <a:spcAft>
                <a:spcPts val="1000"/>
              </a:spcAft>
              <a:defRPr sz="2100" b="0">
                <a:solidFill>
                  <a:srgbClr val="282828"/>
                </a:solidFill>
              </a:defRPr>
            </a:pPr>
            <a:r>
              <a:t>Python</a:t>
            </a:r>
          </a:p>
          <a:p>
            <a:pPr>
              <a:spcAft>
                <a:spcPts val="1000"/>
              </a:spcAft>
              <a:defRPr sz="2100" b="0">
                <a:solidFill>
                  <a:srgbClr val="282828"/>
                </a:solidFill>
              </a:defRPr>
            </a:pPr>
            <a:r>
              <a:t>Pandas</a:t>
            </a:r>
          </a:p>
          <a:p>
            <a:pPr>
              <a:spcAft>
                <a:spcPts val="1000"/>
              </a:spcAft>
              <a:defRPr sz="2100" b="0">
                <a:solidFill>
                  <a:srgbClr val="282828"/>
                </a:solidFill>
              </a:defRPr>
            </a:pPr>
            <a:r>
              <a:t>Matplotlib</a:t>
            </a:r>
          </a:p>
          <a:p>
            <a:pPr>
              <a:spcAft>
                <a:spcPts val="1000"/>
              </a:spcAft>
              <a:defRPr sz="2100" b="0">
                <a:solidFill>
                  <a:srgbClr val="282828"/>
                </a:solidFill>
              </a:defRPr>
            </a:pPr>
            <a:r>
              <a:t>Seaborn</a:t>
            </a:r>
          </a:p>
          <a:p>
            <a:pPr>
              <a:spcAft>
                <a:spcPts val="1000"/>
              </a:spcAft>
              <a:defRPr sz="2100" b="0">
                <a:solidFill>
                  <a:srgbClr val="282828"/>
                </a:solidFill>
              </a:defRPr>
            </a:pPr>
            <a:r>
              <a:t>Data Analysis</a:t>
            </a:r>
          </a:p>
          <a:p>
            <a:pPr>
              <a:spcAft>
                <a:spcPts val="1000"/>
              </a:spcAft>
              <a:defRPr sz="2100" b="0">
                <a:solidFill>
                  <a:srgbClr val="282828"/>
                </a:solidFill>
              </a:defRPr>
            </a:pPr>
            <a:r>
              <a:t>Data Visualization</a:t>
            </a:r>
          </a:p>
          <a:p>
            <a:pPr>
              <a:spcAft>
                <a:spcPts val="1000"/>
              </a:spcAft>
              <a:defRPr sz="2100" b="0">
                <a:solidFill>
                  <a:srgbClr val="282828"/>
                </a:solidFill>
              </a:defRPr>
            </a:pPr>
            <a:r>
              <a:t>Correlation Analysis</a:t>
            </a:r>
          </a:p>
          <a:p>
            <a:pPr>
              <a:spcAft>
                <a:spcPts val="1000"/>
              </a:spcAft>
              <a:defRPr sz="2100" b="0">
                <a:solidFill>
                  <a:srgbClr val="282828"/>
                </a:solidFill>
              </a:defRPr>
            </a:pPr>
            <a:r>
              <a:t>Time-Series Forecasting</a:t>
            </a:r>
          </a:p>
          <a:p>
            <a:pPr>
              <a:spcAft>
                <a:spcPts val="1000"/>
              </a:spcAft>
              <a:defRPr sz="2100" b="0">
                <a:solidFill>
                  <a:srgbClr val="282828"/>
                </a:solidFill>
              </a:defRPr>
            </a:pPr>
            <a:r>
              <a:t>ARIMA</a:t>
            </a:r>
          </a:p>
        </p:txBody>
      </p:sp>
      <p:sp>
        <p:nvSpPr>
          <p:cNvPr id="4" name="Rectangle 3"/>
          <p:cNvSpPr/>
          <p:nvPr/>
        </p:nvSpPr>
        <p:spPr>
          <a:xfrm>
            <a:off x="0" y="6629400"/>
            <a:ext cx="12191695" cy="2286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698480" y="6446520"/>
            <a:ext cx="914400" cy="182880"/>
          </a:xfrm>
          <a:prstGeom prst="rect">
            <a:avLst/>
          </a:prstGeom>
          <a:noFill/>
        </p:spPr>
        <p:txBody>
          <a:bodyPr wrap="none">
            <a:spAutoFit/>
          </a:bodyPr>
          <a:lstStyle/>
          <a:p>
            <a:pPr algn="r">
              <a:defRPr sz="900">
                <a:solidFill>
                  <a:srgbClr val="1F4E79"/>
                </a:solidFill>
              </a:defRPr>
            </a:pPr>
            <a: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2F6FA"/>
        </a:solidFill>
        <a:effectLst/>
      </p:bgPr>
    </p:bg>
    <p:spTree>
      <p:nvGrpSpPr>
        <p:cNvPr id="1" name=""/>
        <p:cNvGrpSpPr/>
        <p:nvPr/>
      </p:nvGrpSpPr>
      <p:grpSpPr/>
      <p:sp>
        <p:nvSpPr>
          <p:cNvPr id="2" name="TextBox 1"/>
          <p:cNvSpPr txBox="1"/>
          <p:nvPr/>
        </p:nvSpPr>
        <p:spPr>
          <a:xfrm>
            <a:off x="914400" y="1508760"/>
            <a:ext cx="10332720" cy="731520"/>
          </a:xfrm>
          <a:prstGeom prst="rect">
            <a:avLst/>
          </a:prstGeom>
          <a:noFill/>
        </p:spPr>
        <p:txBody>
          <a:bodyPr wrap="none">
            <a:spAutoFit/>
          </a:bodyPr>
          <a:lstStyle/>
          <a:p>
            <a:pPr algn="ctr">
              <a:defRPr sz="3200" b="1">
                <a:solidFill>
                  <a:srgbClr val="1F4E79"/>
                </a:solidFill>
              </a:defRPr>
            </a:pPr>
            <a:r>
              <a:t>Conclusion</a:t>
            </a:r>
          </a:p>
        </p:txBody>
      </p:sp>
      <p:sp>
        <p:nvSpPr>
          <p:cNvPr id="3" name="TextBox 2"/>
          <p:cNvSpPr txBox="1"/>
          <p:nvPr/>
        </p:nvSpPr>
        <p:spPr>
          <a:xfrm>
            <a:off x="1097280" y="2423160"/>
            <a:ext cx="9966960" cy="2011680"/>
          </a:xfrm>
          <a:prstGeom prst="rect">
            <a:avLst/>
          </a:prstGeom>
          <a:noFill/>
        </p:spPr>
        <p:txBody>
          <a:bodyPr wrap="none">
            <a:spAutoFit/>
          </a:bodyPr>
          <a:lstStyle/>
          <a:p>
            <a:pPr algn="ctr">
              <a:defRPr sz="2100">
                <a:solidFill>
                  <a:srgbClr val="282828"/>
                </a:solidFill>
              </a:defRPr>
            </a:pPr>
            <a:r>
              <a:t>The project transforms a 1,000-day COVID-19 dataset into practical analytical insights for Eko Hospital. By combining trend analysis, mortality and recovery rates, correlation analysis, ARIMA forecasting and visualization, the work connects data analysis to surveillance, preparedness and data-driven resource planning.</a:t>
            </a:r>
          </a:p>
        </p:txBody>
      </p:sp>
      <p:sp>
        <p:nvSpPr>
          <p:cNvPr id="4" name="TextBox 3"/>
          <p:cNvSpPr txBox="1"/>
          <p:nvPr/>
        </p:nvSpPr>
        <p:spPr>
          <a:xfrm>
            <a:off x="1371600" y="4892040"/>
            <a:ext cx="9418320" cy="640080"/>
          </a:xfrm>
          <a:prstGeom prst="rect">
            <a:avLst/>
          </a:prstGeom>
          <a:noFill/>
        </p:spPr>
        <p:txBody>
          <a:bodyPr wrap="none">
            <a:spAutoFit/>
          </a:bodyPr>
          <a:lstStyle/>
          <a:p>
            <a:pPr algn="ctr">
              <a:defRPr sz="2800" b="1">
                <a:solidFill>
                  <a:srgbClr val="4472C4"/>
                </a:solidFill>
              </a:defRPr>
            </a:pPr>
            <a: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